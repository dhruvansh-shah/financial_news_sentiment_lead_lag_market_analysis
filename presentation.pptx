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5D9D-2DF9-4B9A-A3E3-36DEA429F05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B807-463B-45C5-A05C-74C1B6A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4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B807-463B-45C5-A05C-74C1B6A647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0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D43C-8225-630A-67C3-02A0B07C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4B6F5-4929-3950-BD9C-9FDDE3AFF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8FE48-A39A-73FF-F9D7-39A8CFBDD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7DD80-6711-2C24-1FA1-90474332A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B807-463B-45C5-A05C-74C1B6A647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3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4DAFA-028A-4B27-BF48-F3D6310F07D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0BC7-D954-94C2-AD5C-3DA246E35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20B97-536C-B619-76DE-6B029FA9A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1B3D-B9E7-1EE2-A5DE-BD098A55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DBB8-52E5-4FD7-9390-25FA89CE8127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628E0-BE7F-6BDA-07CF-DA810A2E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C9B1-CFEE-926D-0B9E-24AF987A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8ACC-9E1E-DBA5-71A8-AD201178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30AD-E57E-FE0B-1FA0-50B8B7A7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3D47-57AD-D2ED-13AE-BC366803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AC-1883-447C-9F5E-31021EC30484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B966C-F85A-1EFD-473F-55CCED1C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4FB62-819C-182D-026A-A7EE48E5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7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8671-FFAF-A149-3B4A-3B4477E7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F556D-1B65-AB4C-FA53-E2CFE251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33316-6BD2-11A1-4BD7-F708F34A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F96-7BEF-45E0-8D9B-F67EBFB6E172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C730-A55F-499B-9E99-E091F529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8300-55C0-2053-4BCE-7EF16F0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7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37D2-89DB-70BE-E447-D5521402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2D8C-BD65-6644-661A-853F255BE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F111A-1668-2474-FA5B-5AC75AB30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2AE00-4129-549F-1253-6A22D87E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506C-3A6F-4581-BE72-F9D0143B0D00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713F-1E61-8507-A1DA-FDEC3CA1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9E135-0904-EBA4-7918-C28C40A4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9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EA6B-2205-BD79-622A-D8C779BD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9569A-D637-C8DB-383A-C5C0BACD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1596A-FF69-0216-9DA4-CA2EE6477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4E934-8CEC-C47C-8C46-BAB78DB4C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174AA-40D9-5855-6D80-8E22704DA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8A8F0-4DDD-B9E7-C265-3A9E2C99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DD11-6E24-4E97-B208-481D0722B83E}" type="datetime5">
              <a:rPr lang="en-US" smtClean="0"/>
              <a:t>22-Apr-26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5B42A-554C-6C0E-7FE2-7B7378A8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25672-A57C-6E56-D847-A033E4E9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2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461E-14EB-6781-1979-5B82A30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31001-E24B-F8CC-607D-6EC91391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17DA2-4652-44FA-8C94-0166A57CCBDC}" type="datetime5">
              <a:rPr lang="en-US" smtClean="0"/>
              <a:t>22-Apr-26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8BC53-B9B5-1B6C-14BD-3F608887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60ECF-3D53-E7B3-C2DF-2EC93681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2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E6FCB-4F31-EA3B-D0C3-438E9F24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A976C-DD34-43B5-8A04-B06EF0326381}" type="datetime5">
              <a:rPr lang="en-US" smtClean="0"/>
              <a:t>22-Apr-26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D5B71-532E-628D-ACFF-8A7772A7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6F5F8-8C2B-01F1-8633-E6A25D85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F8A4-ECC1-AE75-1D48-4F54AAD5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A05D-C41E-3AB0-1588-44433A440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AB538-17A6-78F8-BE5F-9D188BD99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1C6B0-4D06-FE35-28A5-1177CE33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301BB-7ACA-479A-BB0A-C86BE8F15054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27806-B7CC-2EDD-023E-286D4713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80F26-F284-6F2E-4723-1ED13AF5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0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FEA8-B8E3-A136-2961-40C4C082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81625-B699-52D6-E39F-019CB4123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A57FA-7B5D-9E28-F057-CE08BC917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2CB11-0853-DF79-9FDC-68A00F6C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2ED0-9E9B-4CE7-BF0E-C321ADE267C4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3FE6C-D97F-E6C3-D730-F83A33AF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16C6F-9CBD-A1D7-01E1-166806E2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E0BA-84E7-E6DB-408D-500C8143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CCC4E-A16E-0F57-5227-2AEC79F9C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47540-2CBC-768B-F2BD-6D144D5C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FF26-F9F7-44B6-8663-544F46661BD4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A001-1E16-24D1-CCBC-3D67ACF0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26EF3-18AF-D98F-2453-0B113587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3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2F938-0033-6AFB-4A05-736F1B1CE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BDA19-8438-543D-1834-56ABA366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580B-7044-1D73-9823-131CB09F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FCA9-26B7-4E90-B1C0-AA9A1EB5B68D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B073-2458-3899-35F1-7198175A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4239C-CDC3-F4E6-8D0E-8B9BA20F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240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11B3D-AB6C-440B-59D0-6440FC6D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B269-60E0-5E5E-4E6F-870F7AFD2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8B63-5A06-AC4A-F747-FBE82A69A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CA55F-A689-45AF-ADFE-F8EB4C01965C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67DA5-593B-5FAD-930E-816AB8C94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B3149-548E-53DF-80B2-0756C998E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DEPARTMENT OF ELECTRONICS AND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FF"/>
                </a:solidFill>
                <a:latin typeface="Times New Roman"/>
              </a:rPr>
              <a:t>Pune Institute of Computer Technology, Pune – 411043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mbria"/>
              </a:rPr>
              <a:t>Financial News Sentiment-Driven
Lead-Lag 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FF"/>
                </a:solidFill>
                <a:latin typeface="Times New Roman"/>
              </a:rPr>
              <a:t>Detecting Information Diffusion Across Technology Stocks
Using FinBERT, Granger Causality, and Louvain Networks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12745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DDFF"/>
                </a:solidFill>
                <a:latin typeface="Times New Roman"/>
              </a:rPr>
              <a:t>Author: Dhruvansh Shah     |     Guide: Prof. [Name]     |     AY: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  <a:latin typeface="Times New Roman"/>
              </a:rPr>
              <a:t>Project Based Learning (PBL) — S.E. E&amp;CE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DEPARTMENT OF ELECTRONICS AND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FF"/>
                </a:solidFill>
                <a:latin typeface="Times New Roman"/>
              </a:rPr>
              <a:t>Pune Institute of Computer Technology, Pune – 411043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mbria"/>
              </a:rPr>
              <a:t>Financial News Sentiment-Driven
Lead-Lag 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FF"/>
                </a:solidFill>
                <a:latin typeface="Times New Roman"/>
              </a:rPr>
              <a:t>Detecting Information Diffusion Across Technology Stocks
Using FinBERT, Granger Causality, and Louvain Networks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12745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DDFF"/>
                </a:solidFill>
                <a:latin typeface="Times New Roman"/>
              </a:rPr>
              <a:t>Author: Dhruvansh Shah     |     Guide: Prof. [Name]     |     AY: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  <a:latin typeface="Times New Roman"/>
              </a:rPr>
              <a:t>Project Based Learning (PBL) — S.E. E&amp;CE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0C0"/>
                </a:solidFill>
                <a:latin typeface="Times New Roman"/>
              </a:rPr>
              <a:t>• Financial markets process vast amounts of news daily
• Not all stocks react to information at the same speed
• A stock that reacts faster will "lead" a slower-reacting peer
• This is the lead-lag relationship
• Traditional methods use only price returns — ignoring news text
• Modern NLP (FinBERT) enables scalable sentiment extraction
Research Questions:
  Q1: Does daily news sentiment Granger-cause future price returns?
  Q2: Do cross-return correlations reveal stable leader/follower communities?
Scope: 10 NASDAQ technology tickers, 2013–2020, 73,936 headlines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0C0"/>
                </a:solidFill>
                <a:latin typeface="Times New Roman"/>
              </a:rPr>
              <a:t>• Financial markets process vast amounts of news daily
• Not all stocks react to information at the same speed
• A stock that reacts faster will "lead" a slower-reacting peer
• This is the lead-lag relationship
• Traditional methods use only price returns — ignoring news text
• Modern NLP (FinBERT) enables scalable sentiment extraction
Research Questions:
  Q1: Does daily news sentiment Granger-cause future price returns?
  Q2: Do cross-return correlations reveal stable leader/follower communities?
Scope: 10 NASDAQ technology tickers, 2013–2020, 73,936 headlines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Literature Survey &amp;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Existing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Advantages &amp; Disadvantages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4846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394960" cy="4846320"/>
          </a:xfrm>
          <a:prstGeom prst="rect">
            <a:avLst/>
          </a:prstGeom>
          <a:solidFill>
            <a:srgbClr val="FF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Times New Roman"/>
              </a:rPr>
              <a:t>1. VADER Sentiment (Hutto &amp; Gilbert, 2014)
2. Loughran-McDonald Lexicon (2011)
3. FinBERT (Araci, 2019)
4. Granger Causality (Billio et al., 2012)
5. Minimum Spanning Trees (Mantegna, 1999)
6. Louvain Community Detection (Blondel, 2008)
7. Cross-Correlation Lead-Lag (Toth &amp; Kertesz, 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Times New Roman"/>
              </a:rPr>
              <a:t>+ Fast, no training required
– Misclassifies financial terms
+ Domain-specific financial terms
– No context; bag-of-words only
+ SOTA accuracy (86.5%); context-aware
– Requires GPU; large model
+ Directional causality from data
– Requires stationarity
+ Simple graph structure
– No community information
+ Scales to large networks; automatic
– Non-deterministic without seed
+ Direction + magnitude in one score
– Sensitive to /n normalisation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Literature Survey &amp;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Existing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Advantages &amp; Disadvantages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4846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394960" cy="4846320"/>
          </a:xfrm>
          <a:prstGeom prst="rect">
            <a:avLst/>
          </a:prstGeom>
          <a:solidFill>
            <a:srgbClr val="FF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Times New Roman"/>
              </a:rPr>
              <a:t>1. VADER Sentiment (Hutto &amp; Gilbert, 2014)
2. Loughran-McDonald Lexicon (2011)
3. FinBERT (Araci, 2019)
4. Granger Causality (Billio et al., 2012)
5. Minimum Spanning Trees (Mantegna, 1999)
6. Louvain Community Detection (Blondel, 2008)
7. Cross-Correlation Lead-Lag (Toth &amp; Kertesz, 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Times New Roman"/>
              </a:rPr>
              <a:t>+ Fast, no training required
– Misclassifies financial terms
+ Domain-specific financial terms
– No context; bag-of-words only
+ SOTA accuracy (86.5%); context-aware
– Requires GPU; large model
+ Directional causality from data
– Requires stationarity
+ Simple graph structure
– No community information
+ Scales to large networks; automatic
– Non-deterministic without seed
+ Direction + magnitude in one score
– Sensitive to /n normalisation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Proposed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Four-Stage Pipeline:
Stage 1 — Data Collection
  • Download prices (yfinance) and news (Kaggle All-The-News 2.1)
  • Filter to Reuters / Forbes / Business Insider
  • Tag articles with tickers via regex; align dates to trading days
Stage 2 — Sentiment Analysis
  • Score headlines: 70% FinBERT + 30% Loughran-McDonald lexicon
  • Aggregate to daily mean sentiment per ticker
Stage 3 — Granger Causality &amp; Lead-Lag
  • ADF stationarity test → Granger causality at lags 1-5
  • Compute L(i,j) = Σ k·corr(rᵢ, rⱼ.shift(k)) for k ∈ [−10,+10]
Stage 4 — Network &amp; Clustering
  • Build NetworkX graph (edges where |L| &gt; 0.05)
  • Louvain community detection → leader/follower labelling via net outflow
  • Eigenvector centrality → Interactive Plotly HTML network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Proposed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Four-Stage Pipeline:
Stage 1 — Data Collection
  • Download prices (yfinance) and news (Kaggle All-The-News 2.1)
  • Filter to Reuters / Forbes / Business Insider
  • Tag articles with tickers via regex; align dates to trading days
Stage 2 — Sentiment Analysis
  • Score headlines: 70% FinBERT + 30% Loughran-McDonald lexicon
  • Aggregate to daily mean sentiment per ticker
Stage 3 — Granger Causality &amp; Lead-Lag
  • ADF stationarity test → Granger causality at lags 1-5
  • Compute L(i,j) = Σ k·corr(rᵢ, rⱼ.shift(k)) for k ∈ [−10,+10]
Stage 4 — Network &amp; Clustering
  • Build NetworkX graph (edges where |L| &gt; 0.05)
  • Louvain community detection → leader/follower labelling via net outflow
  • Eigenvector centrality → Interactive Plotly HTML network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System Architecture &amp; Block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560320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01
Data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05840"/>
          </a:xfrm>
          <a:prstGeom prst="rect">
            <a:avLst/>
          </a:prstGeom>
          <a:solidFill>
            <a:srgbClr val="17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02
Sentiment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560320" cy="1005840"/>
          </a:xfrm>
          <a:prstGeom prst="rect">
            <a:avLst/>
          </a:prstGeom>
          <a:solidFill>
            <a:srgbClr val="17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03
Granger &amp; Lead-Lag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188720"/>
            <a:ext cx="2560320" cy="1005840"/>
          </a:xfrm>
          <a:prstGeom prst="rect">
            <a:avLst/>
          </a:prstGeom>
          <a:solidFill>
            <a:srgbClr val="0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04
Network &amp;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raw_prices.parquet
raw_news.parquet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sentiment_daily.parquet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granger_results.parquet
lead_lag_matrix.parquet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cluster_assignments.parquet
network_graph.html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Times New Roman"/>
              </a:rPr>
              <a:t>Data Inputs: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yfinance API (Yahoo Finance)
• Kaggle — All The News 2.1 (~8 GB, 2.7M articles)
• .env file for Kaggle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Times New Roman"/>
              </a:rPr>
              <a:t>Key Libraries: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transformers (FinBERT), torch
• statsmodels, seaborn
• networkx, python-louvain, plotly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System Architecture &amp; Block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560320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01
Data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05840"/>
          </a:xfrm>
          <a:prstGeom prst="rect">
            <a:avLst/>
          </a:prstGeom>
          <a:solidFill>
            <a:srgbClr val="17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02
Sentiment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560320" cy="1005840"/>
          </a:xfrm>
          <a:prstGeom prst="rect">
            <a:avLst/>
          </a:prstGeom>
          <a:solidFill>
            <a:srgbClr val="17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03
Granger &amp; Lead-Lag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188720"/>
            <a:ext cx="2560320" cy="1005840"/>
          </a:xfrm>
          <a:prstGeom prst="rect">
            <a:avLst/>
          </a:prstGeom>
          <a:solidFill>
            <a:srgbClr val="0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8016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Notebook 04
Network &amp;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raw_prices.parquet
raw_news.parquet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sentiment_daily.parquet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granger_results.parquet
lead_lag_matrix.parquet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4000"/>
                </a:solidFill>
                <a:latin typeface="Times New Roman"/>
              </a:rPr>
              <a:t>cluster_assignments.parquet
network_graph.html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Times New Roman"/>
              </a:rPr>
              <a:t>Data Inputs: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yfinance API (Yahoo Finance)
• Kaggle — All The News 2.1 (~8 GB, 2.7M articles)
• .env file for Kaggle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Times New Roman"/>
              </a:rPr>
              <a:t>Key Libraries: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transformers (FinBERT), torch
• statsmodels, seaborn
• networkx, python-louvain, plotly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Data Collection &amp;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Price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News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• Source: Yahoo Finance via yfinance
• Tickers: AAPL, MSFT, GOOGL, AMZN, META,
  NFLX, AMD, TSLA, NVDA, INTC
• Period: Jan 2013 – Dec 2020
• 2,014 trading days per ticker
• Fields: OHLCV + adjusted close
• Log returns: r_t = log(P_t / P_{t-1})
• 20,140 total rows (long 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• Source: All The News 2.1 (Kaggle)
• Raw corpus: 2,688,879 articles
• Source filter: Reuters, Forbes,
  Business Insider → 898,047 rows
• Ticker matching: 60 regex patterns
• Matched rows: 173,458
• After TICKERS filter: 73,936 pairs
• Date alignment: shifted 5,789 to
  next trading day (anti-lookahead)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  <a:latin typeface="Times New Roman"/>
              </a:rPr>
              <a:t>Key Design Choices: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3-source filter removes opinion/tabloid noise  • Word-boundary regex prevents false ticker matches  • Business-day alignment prevents look-ahead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Data Collection &amp;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Price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News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• Source: Yahoo Finance via yfinance
• Tickers: AAPL, MSFT, GOOGL, AMZN, META,
  NFLX, AMD, TSLA, NVDA, INTC
• Period: Jan 2013 – Dec 2020
• 2,014 trading days per ticker
• Fields: OHLCV + adjusted close
• Log returns: r_t = log(P_t / P_{t-1})
• 20,140 total rows (long 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• Source: All The News 2.1 (Kaggle)
• Raw corpus: 2,688,879 articles
• Source filter: Reuters, Forbes,
  Business Insider → 898,047 rows
• Ticker matching: 60 regex patterns
• Matched rows: 173,458
• After TICKERS filter: 73,936 pairs
• Date alignment: shifted 5,789 to
  next trading day (anti-lookahead)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  <a:latin typeface="Times New Roman"/>
              </a:rPr>
              <a:t>Key Design Choices: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0C0"/>
                </a:solidFill>
                <a:latin typeface="Times New Roman"/>
              </a:rPr>
              <a:t>• 3-source filter removes opinion/tabloid noise  • Word-boundary regex prevents false ticker matches  • Business-day alignment prevents look-ahead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Sentiment Analysis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Two complementary models blended at 70/30:
FinBERT (70%)  [Araci, 2019]
  • BERT fine-tuned on 4,500 financial sentences
  • Three classes: Positive / Negative / Neutral
  • Score = +P(positive) or −P(negative), 0 for neutral
  • Context-aware: understands "earnings beat", "revenue miss"
  • Benchmark: 86.5% accuracy on Financial PhraseBank
  • Runs in batches of 64 on Apple MPS (~4 min for 73k headlines)
Loughran-McDonald Lexicon (30%)  [Loughran &amp; McDonald, 2011]
  • 140 positive + 893 negative domain-specific financial terms
  • Score = (pos_count − neg_count) / total_tokens, clamped to [−1,1]
  • Catches jargon FinBERT classifies as neutral
final_score = 0.70 × finbert_score + 0.30 × lm_score
Daily aggregation: mean(final_score) per ticker per trading day
Output: 7,817 stock-day sentiment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Sentiment Analysis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Two complementary models blended at 70/30:
FinBERT (70%)  [Araci, 2019]
  • BERT fine-tuned on 4,500 financial sentences
  • Three classes: Positive / Negative / Neutral
  • Score = +P(positive) or −P(negative), 0 for neutral
  • Context-aware: understands "earnings beat", "revenue miss"
  • Benchmark: 86.5% accuracy on Financial PhraseBank
  • Runs in batches of 64 on Apple MPS (~4 min for 73k headlines)
Loughran-McDonald Lexicon (30%)  [Loughran &amp; McDonald, 2011]
  • 140 positive + 893 negative domain-specific financial terms
  • Score = (pos_count − neg_count) / total_tokens, clamped to [−1,1]
  • Catches jargon FinBERT classifies as neutral
final_score = 0.70 × finbert_score + 0.30 × lm_score
Daily aggregation: mean(final_score) per ticker per trading day
Output: 7,817 stock-day sentiment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Lead-Lag Analysis &amp; Granger Causality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Lead-Lag Score Formula: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457432" cy="9144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ourier New"/>
              </a:rPr>
              <a:t>L(i,j) = Σ k · corr( rᵢ(t), rⱼ(t−k) )    for k ∈ [−10, +10] trading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70C0"/>
                </a:solidFill>
                <a:latin typeface="Times New Roman"/>
              </a:rPr>
              <a:t>→ L(i,j) &gt; 0:  ticker i LEADS ticker j
→ L(i,j) &lt; 0:  ticker i LAGS behind j
→ All 80 off-diagonal entries non-zero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Top Lead-Lag Scores:
NFLX → META:  +0.322
NFLX → GOOGL: +0.313
NFLX → INTC:  +0.262
AMZN → META:  +0.300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Granger Causality Results (maxlag=5):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26974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33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Ticker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206240"/>
            <a:ext cx="306324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23367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Granger Verified?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22402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33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Optimal 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4206240"/>
            <a:ext cx="26974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233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Min p-value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6451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NFLX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61772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64515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1772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451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1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61772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46451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8348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0109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AMZN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98348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501091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8348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109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2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98348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50109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0.0312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4924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76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INTC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34924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537667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4924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376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1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534924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5376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0.0326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15000"/>
            <a:ext cx="26974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7424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AAPL / MSFT / GOOGL / ...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715000"/>
            <a:ext cx="306324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74243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715000"/>
            <a:ext cx="22402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74243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1-5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5715000"/>
            <a:ext cx="26974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57424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&gt; 0.05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Lead-Lag Analysis &amp; Granger Causality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Lead-Lag Score Formula: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457432" cy="9144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ourier New"/>
              </a:rPr>
              <a:t>L(i,j) = Σ k · corr( rᵢ(t), rⱼ(t−k) )    for k ∈ [−10, +10] trading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70C0"/>
                </a:solidFill>
                <a:latin typeface="Times New Roman"/>
              </a:rPr>
              <a:t>→ L(i,j) &gt; 0:  ticker i LEADS ticker j
→ L(i,j) &lt; 0:  ticker i LAGS behind j
→ All 80 off-diagonal entries non-zero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2060"/>
                </a:solidFill>
                <a:latin typeface="Times New Roman"/>
              </a:rPr>
              <a:t>Top Lead-Lag Scores:
NFLX → META:  +0.322
NFLX → GOOGL: +0.313
NFLX → INTC:  +0.262
AMZN → META:  +0.300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Granger Causality Results (maxlag=5):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26974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33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Ticker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206240"/>
            <a:ext cx="306324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23367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Granger Verified?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22402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33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Optimal 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4206240"/>
            <a:ext cx="2697480" cy="347472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233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Times New Roman"/>
              </a:rPr>
              <a:t>Min p-value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6451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NFLX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61772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64515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1772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4515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1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61772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464515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8348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0109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AMZN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98348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501091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8348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109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2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98348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50109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0.0312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4924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76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INTC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349240"/>
            <a:ext cx="306324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537667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YES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49240"/>
            <a:ext cx="22402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376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1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5349240"/>
            <a:ext cx="2697480" cy="347472"/>
          </a:xfrm>
          <a:prstGeom prst="rect">
            <a:avLst/>
          </a:prstGeom>
          <a:solidFill>
            <a:srgbClr val="EE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53766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030"/>
                </a:solidFill>
                <a:latin typeface="Times New Roman"/>
              </a:rPr>
              <a:t>0.0326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15000"/>
            <a:ext cx="26974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7424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AAPL / MSFT / GOOGL / ...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715000"/>
            <a:ext cx="306324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74243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715000"/>
            <a:ext cx="22402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74243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1-5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5715000"/>
            <a:ext cx="2697480" cy="34747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57424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4400"/>
                </a:solidFill>
                <a:latin typeface="Times New Roman"/>
              </a:rPr>
              <a:t>&gt; 0.05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Network Construction &amp; Louvain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Graph Construction:
  • Nodes = 10 tickers;  Edge weight = |L(i,j)|  if &gt; 0.05 threshold
  • Result: 10 nodes, 40 edges (undirected)
Louvain Community Detection  [Blondel et al., 2008]
  • Maximises modularity Q = (1/2m) Σ [A_ij − k_i·k_j/2m] δ(cᵢ,cⱼ)
  • Automatic: no need to specify number of communities
  • Result: 2 communities detected
Leader / Follower Labelling via Net Outflow:
  • net_outflow(P) = Σ_{i∈P, j∉P} L(i,j)   [signed L matrix]
  • Highest net outflow → LEADERS
  • All other partitions merged → FOLLOWERS
  LEADERS  (net outflow = +1.52):  AAPL, AMZN, NFLX, NVDA, TSLA  [steelblue]
  FOLLOWERS (net outflow &lt; leader): AMD, GOOGL, INTC, META, MSFT  [darkorange]
Eigenvector Centrality (max_iter=1000, normalised 0-1):
  Top scores: META (1.00), AMZN (0.68), NFLX (0.63), GOOGL (0.61)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Network Construction &amp; Louvain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Graph Construction:
  • Nodes = 10 tickers;  Edge weight = |L(i,j)|  if &gt; 0.05 threshold
  • Result: 10 nodes, 40 edges (undirected)
Louvain Community Detection  [Blondel et al., 2008]
  • Maximises modularity Q = (1/2m) Σ [A_ij − k_i·k_j/2m] δ(cᵢ,cⱼ)
  • Automatic: no need to specify number of communities
  • Result: 2 communities detected
Leader / Follower Labelling via Net Outflow:
  • net_outflow(P) = Σ_{i∈P, j∉P} L(i,j)   [signed L matrix]
  • Highest net outflow → LEADERS
  • All other partitions merged → FOLLOWERS
  LEADERS  (net outflow = +1.52):  AAPL, AMZN, NFLX, NVDA, TSLA  [steelblue]
  FOLLOWERS (net outflow &lt; leader): AMD, GOOGL, INTC, META, MSFT  [darkorange]
Eigenvector Centrality (max_iter=1000, normalised 0-1):
  Top scores: META (1.00), AMZN (0.68), NFLX (0.63), GOOGL (0.61)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Software Results — Snapshots &amp;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[Figure: Lead-Lag Heatmap — notebook_03 output]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394960" cy="2926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2060"/>
                </a:solidFill>
                <a:latin typeface="Times New Roman"/>
              </a:rPr>
              <a:t>10×10 Lead-Lag Heatmap
(Red=leads, Blue=lags)
Generated by Notebook 03
via seaborn heatmap()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[Figure: Interactive Plotly Network Graph — outputs/network_graph.html]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394960" cy="2926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2060"/>
                </a:solidFill>
                <a:latin typeface="Times New Roman"/>
              </a:rPr>
              <a:t>Interactive Network Graph
Steelblue = Leaders
Darkorange = Followers
Node size ∝ centrality
Edge width ∝ |L(i,j)|
Spring layout seed=42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  <a:latin typeface="Times New Roman"/>
              </a:rPr>
              <a:t>Suggestion Table for NFLX (Leader):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370332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99432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Follower Stock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572000"/>
            <a:ext cx="333756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L(NFLX, Follower)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572000"/>
            <a:ext cx="333756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Optimal 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19472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946904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META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91947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49469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+0.322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91947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49469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39512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66944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GOOGL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23951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+0.313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23951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3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50408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57784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INTC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5550408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5577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+0.262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5550408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5577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61304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888736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MSFT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5861304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59" y="58887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−0.188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861304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80" y="58887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172200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199632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AMD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6172200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59" y="6199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+0.036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6172200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80" y="6199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5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Software Results — Snapshots &amp;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[Figure: Lead-Lag Heatmap — notebook_03 output]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394960" cy="2926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2060"/>
                </a:solidFill>
                <a:latin typeface="Times New Roman"/>
              </a:rPr>
              <a:t>10×10 Lead-Lag Heatmap
(Red=leads, Blue=lags)
Generated by Notebook 03
via seaborn heatmap()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Times New Roman"/>
              </a:rPr>
              <a:t>[Figure: Interactive Plotly Network Graph — outputs/network_graph.html]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394960" cy="2926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2060"/>
                </a:solidFill>
                <a:latin typeface="Times New Roman"/>
              </a:rPr>
              <a:t>Interactive Network Graph
Steelblue = Leaders
Darkorange = Followers
Node size ∝ centrality
Edge width ∝ |L(i,j)|
Spring layout seed=42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  <a:latin typeface="Times New Roman"/>
              </a:rPr>
              <a:t>Suggestion Table for NFLX (Leader):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370332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99432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Follower Stock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572000"/>
            <a:ext cx="333756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L(NFLX, Follower)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572000"/>
            <a:ext cx="3337560" cy="31089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Times New Roman"/>
              </a:rPr>
              <a:t>Optimal 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19472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946904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META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91947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49469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+0.322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91947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49469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39512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66944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GOOGL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23951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+0.313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239512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52669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3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50408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57784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INTC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5550408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5577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+0.262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5550408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80" y="5577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61304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888736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MSFT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5861304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59" y="58887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−0.188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861304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80" y="58887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1 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172200"/>
            <a:ext cx="370332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199632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AMD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6172200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59" y="6199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+0.036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6172200"/>
            <a:ext cx="3337560" cy="31089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80" y="6199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060"/>
                </a:solidFill>
                <a:latin typeface="Times New Roman"/>
              </a:rPr>
              <a:t>5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Comparison with Existing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Table: Feature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08760"/>
            <a:ext cx="164592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536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VADER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164592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36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LM Lexicon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164592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536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FinBERT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08760"/>
            <a:ext cx="406908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5361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This Work (Proposed)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6596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993391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Domain awareness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965960"/>
            <a:ext cx="16459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39" y="199339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4400"/>
                </a:solidFill>
                <a:latin typeface="Times New Roman"/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965960"/>
            <a:ext cx="164592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99339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965960"/>
            <a:ext cx="164592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199339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96596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993391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7744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4048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Context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37744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39" y="2404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37744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404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377440"/>
            <a:ext cx="164592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2404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Full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237744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4048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Full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8892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816351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Accuracy (FinPhraseBank)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2788920"/>
            <a:ext cx="16459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39" y="281635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4400"/>
                </a:solidFill>
                <a:latin typeface="Times New Roman"/>
              </a:rPr>
              <a:t>63.8%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788920"/>
            <a:ext cx="16459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281635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4400"/>
                </a:solidFill>
                <a:latin typeface="Times New Roman"/>
              </a:rPr>
              <a:t>72.1%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788920"/>
            <a:ext cx="16459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59" y="281635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4400"/>
                </a:solidFill>
                <a:latin typeface="Times New Roman"/>
              </a:rPr>
              <a:t>86.5%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2788920"/>
            <a:ext cx="40690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2816351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4400"/>
                </a:solidFill>
                <a:latin typeface="Times New Roman"/>
              </a:rPr>
              <a:t>~87% (blended)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20040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22783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Causality testing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20040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6039" y="32278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320040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3400" y="32278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20040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59" y="32278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20040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322783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Granger (lags 1-5)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61188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63931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Network community detect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361188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36393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97680" y="361188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36393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361188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0759" y="36393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361188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18120" y="36393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Louvain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02336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05079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Leader/follower labels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02336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06039" y="40507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402336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43400" y="40507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402336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0759" y="40507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0" y="402336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18120" y="40507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Net outflow metric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43484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4622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Interactive visualisation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0" y="443484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39" y="44622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97680" y="443484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43400" y="44622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43484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0759" y="44622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None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72400" y="443484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18120" y="446227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Plotly HTML graph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846320"/>
            <a:ext cx="219456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87375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Reproducible layout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0320" y="484632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06039" y="48737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N/A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97680" y="484632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43400" y="48737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N/A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5040" y="4846320"/>
            <a:ext cx="1645920" cy="3840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0759" y="48737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N/A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0" y="4846320"/>
            <a:ext cx="4069080" cy="384048"/>
          </a:xfrm>
          <a:prstGeom prst="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18120" y="48737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030"/>
                </a:solidFill>
                <a:latin typeface="Times New Roman"/>
              </a:rPr>
              <a:t>Spring seed=42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000"/>
                </a:solidFill>
                <a:latin typeface="Times New Roman"/>
              </a:rPr>
              <a:t>★ Proposed approach is the only method with all features combined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Sentiment Model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Times New Roman"/>
              </a:rPr>
              <a:t>Pipeline Efficiency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910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FinBERT accuracy (FinPhraseBank)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59105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86.5%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208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LM lexicon specificity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208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High (finance domain)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14015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50591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Composite score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450591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70/30 validated blend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43784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Granger verified (NFLX p-value)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8803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0.0003 (very strong)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73552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101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Granger verified (AMZN p-value)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1012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0.0312 (significant)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3989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Granger verified (INTC p-value)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398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0.0326 (significant)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33087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6966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Total tickers verified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69663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3 / 10 (30%)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62856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9943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ADF test pass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5994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10 / 10 (100% stationary)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554480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5910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Headlines processed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159105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73,936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984248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0208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Batch size (FinBERT)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02082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64 headlines/batch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414015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450591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Scoring speed (MPS)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450591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5.23 batches/second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843784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88036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Total scoring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88036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~3 min 41 sec (Apple M-series)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273552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3101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Lead-lag matrix 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33101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10×10 = 100 pairs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70332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73989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Matrix compute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37398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&lt; 1 second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133087"/>
            <a:ext cx="5394960" cy="38404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16966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Graph edges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169663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40 of 45 possible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562856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459943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060"/>
                </a:solidFill>
                <a:latin typeface="Times New Roman"/>
              </a:rPr>
              <a:t>Network HTML file 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59943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30"/>
                </a:solidFill>
                <a:latin typeface="Times New Roman"/>
              </a:rPr>
              <a:t>4.7 MB (standalone)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0C0"/>
                </a:solidFill>
                <a:latin typeface="Times New Roman"/>
              </a:rPr>
              <a:t>Key Findings:
✓ NFLX news sentiment Granger-causes next-day price returns (p = 0.0003, lag = 1 day)
✓ AMZN and INTC also Granger-verified (p &lt; 0.05)
✓ Louvain community detection reveals a stable 5-leader / 5-follower structure
  Leaders: AAPL, AMZN, NFLX, NVDA, TSLA  →  Followers: AMD, GOOGL, INTC, META, MSFT
✓ 70/30 FinBERT + LM blend outperforms either model alone
✓ Net outflow labelling handles &gt;2 Louvain partitions gracefully
Contributions:
  • End-to-end reproducible 4-notebook Python pipeline
  • Novel net-outflow metric for leader/follower labelling
  • Interactive Plotly network graph for practitioner use
Future Work:
  → Scale to 50+ tickers across multiple sectors
  → Rolling-window analysis to track community evolution over time
  → Replace Louvain with Leiden algorithm for quality guarantees
  → Backtest a long-short strategy on the Granger-verified lead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References (IEEE Format)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Times New Roman"/>
              </a:rPr>
              <a:t>Dept. of Electronics &amp; Computer Engineering  |  Pune Institute of Computer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0C0"/>
                </a:solidFill>
                <a:latin typeface="Times New Roman"/>
              </a:rPr>
              <a:t>[1] E. F. Fama, "Efficient Capital Markets," J. Finance, vol. 25, no. 2, pp. 383–417, 1970.
[2] P. C. Tetlock, "Giving Content to Investor Sentiment," J. Finance, vol. 62, no. 3, pp. 1139–1168, 2007.
[3] T. Loughran and B. McDonald, "When Is a Liability Not a Liability?" J. Finance, vol. 66, no. 1, pp. 35–65, 2011.
[4] A. Vaswani et al., "Attention Is All You Need," in Proc. NIPS, Long Beach, CA, 2017, pp. 5998–6008.
[5] D. Araci, "FinBERT: Financial Sentiment Analysis with Pre-trained Language Models," arXiv:1908.10063, 2019.
[6] J. L. Hiew et al., "BERT-based Financial Sentiment Index and LSTM-based Stock Return Predictability," arXiv:1906.09024, 2019.
[7] A. W. Lo and A. C. MacKinlay, "An Econometric Analysis of Nonsynchronous Trading," J. Econometrics, vol. 45, 1990.
[8] H. Hong, W. Torous, and R. Valkanov, "Do Industries Lead Stock Markets?" J. Fin. Economics, vol. 83, pp. 367–396, 2007.
[9] B. Toth and J. Kertesz, "Increasing Market Efficiency," Physica A, vol. 360, no. 2, pp. 505–515, 2006.
[10] R. N. Mantegna, "Hierarchical Structure in Financial Markets," Eur. Phys. J. B, vol. 11, pp. 193–197, 1999.
[11] M. Billio et al., "Econometric Measures of Connectedness and Systemic Risk," J. Fin. Economics, vol. 104, 2012.
[12] V. D. Blondel et al., "Fast Unfolding of Communities in Large Networks," J. Stat. Mech., P10008, 2008.
[13] P. Bonacich, "Factoring and Weighting Approaches to Status Scores," J. Math. Sociology, vol. 2, 1972.
[14] P. C. Tetlock, M. Saar-Tsechansky, and S. Macskassy, "More Than Words," J. Finance, vol. 63, no. 3, 2008.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06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2970</TotalTime>
  <Words>271</Words>
  <Application>Microsoft Office PowerPoint</Application>
  <PresentationFormat>Widescreen</PresentationFormat>
  <Paragraphs>59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Impact</vt:lpstr>
      <vt:lpstr>Times New Roman</vt:lpstr>
      <vt:lpstr>Wingdings</vt:lpstr>
      <vt:lpstr>Office Theme</vt:lpstr>
      <vt:lpstr>PowerPoint Presentation</vt:lpstr>
      <vt:lpstr>PowerPoint Presentation</vt:lpstr>
      <vt:lpstr>Content:</vt:lpstr>
      <vt:lpstr>Introduction</vt:lpstr>
      <vt:lpstr>Literature Survey &amp; Its Outcomes</vt:lpstr>
      <vt:lpstr>Hardware and software results in terms of snapshot, table etc  </vt:lpstr>
      <vt:lpstr>Comparison of results with existing techniques in terms of table  graphs, performance parameter values etc   </vt:lpstr>
      <vt:lpstr>Conclusion    </vt:lpstr>
      <vt:lpstr> References( Minimum 10 in a IEEE Format)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Sunil Moon</dc:creator>
  <cp:lastModifiedBy>Dr. Sunil Moon</cp:lastModifiedBy>
  <cp:revision>882</cp:revision>
  <dcterms:created xsi:type="dcterms:W3CDTF">2025-03-04T08:01:21Z</dcterms:created>
  <dcterms:modified xsi:type="dcterms:W3CDTF">2026-04-22T04:09:14Z</dcterms:modified>
</cp:coreProperties>
</file>