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076138644" r:id="rId2"/>
    <p:sldId id="2076138645" r:id="rId3"/>
    <p:sldId id="2076138646" r:id="rId4"/>
    <p:sldId id="2076138648" r:id="rId5"/>
    <p:sldId id="2076138647" r:id="rId6"/>
    <p:sldId id="2076138649" r:id="rId7"/>
    <p:sldId id="2076138650" r:id="rId8"/>
    <p:sldId id="2076138659" r:id="rId9"/>
    <p:sldId id="2076138651" r:id="rId10"/>
    <p:sldId id="2076138652" r:id="rId11"/>
    <p:sldId id="2076138653" r:id="rId12"/>
    <p:sldId id="2076138654" r:id="rId13"/>
    <p:sldId id="2076138655" r:id="rId14"/>
    <p:sldId id="2076138656" r:id="rId15"/>
    <p:sldId id="2076138657" r:id="rId16"/>
    <p:sldId id="2076138660" r:id="rId17"/>
    <p:sldId id="2076138661" r:id="rId18"/>
    <p:sldId id="20761386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19"/>
  </p:normalViewPr>
  <p:slideViewPr>
    <p:cSldViewPr snapToGrid="0">
      <p:cViewPr varScale="1">
        <p:scale>
          <a:sx n="122" d="100"/>
          <a:sy n="122" d="100"/>
        </p:scale>
        <p:origin x="2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5B5D9D-2DF9-4B9A-A3E3-36DEA429F055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8B807-463B-45C5-A05C-74C1B6A64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940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8B807-463B-45C5-A05C-74C1B6A647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90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0BC7-D954-94C2-AD5C-3DA246E354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520B97-536C-B619-76DE-6B029FA9A3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11B3D-B9E7-1EE2-A5DE-BD098A55E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ADBB8-52E5-4FD7-9390-25FA89CE8127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628E0-BE7F-6BDA-07CF-DA810A2E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AEC9B1-CFEE-926D-0B9E-24AF987AE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09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8ACC-9E1E-DBA5-71A8-AD201178F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D30AD-E57E-FE0B-1FA0-50B8B7A75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33D47-57AD-D2ED-13AE-BC3668033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475AC-1883-447C-9F5E-31021EC30484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B966C-F85A-1EFD-473F-55CCED1CF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4FB62-819C-182D-026A-A7EE48E58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270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78671-FFAF-A149-3B4A-3B4477E7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4F556D-1B65-AB4C-FA53-E2CFE251E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33316-6BD2-11A1-4BD7-F708F34AA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BDF96-7BEF-45E0-8D9B-F67EBFB6E172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FC730-A55F-499B-9E99-E091F5296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78300-55C0-2053-4BCE-7EF16F0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972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37D2-89DB-70BE-E447-D55214027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22D8C-BD65-6644-661A-853F255BE6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2F111A-1668-2474-FA5B-5AC75AB30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2AE00-4129-549F-1253-6A22D87E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C506C-3A6F-4581-BE72-F9D0143B0D00}" type="datetime5">
              <a:rPr lang="en-US" smtClean="0"/>
              <a:t>23-Apr-26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7713F-1E61-8507-A1DA-FDEC3CA16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9E135-0904-EBA4-7918-C28C40A4F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096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9EA6B-2205-BD79-622A-D8C779BD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C9569A-D637-C8DB-383A-C5C0BACDD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C1596A-FF69-0216-9DA4-CA2EE6477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F4E934-8CEC-C47C-8C46-BAB78DB4CC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7174AA-40D9-5855-6D80-8E22704D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E8A8F0-4DDD-B9E7-C265-3A9E2C99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7DD11-6E24-4E97-B208-481D0722B83E}" type="datetime5">
              <a:rPr lang="en-US" smtClean="0"/>
              <a:t>23-Apr-26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55B42A-554C-6C0E-7FE2-7B7378A80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925672-A57C-6E56-D847-A033E4E9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423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2461E-14EB-6781-1979-5B82A30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131001-E24B-F8CC-607D-6EC91391F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17DA2-4652-44FA-8C94-0166A57CCBDC}" type="datetime5">
              <a:rPr lang="en-US" smtClean="0"/>
              <a:t>23-Apr-26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A8BC53-B9B5-1B6C-14BD-3F608887E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60ECF-3D53-E7B3-C2DF-2EC936810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129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BE6FCB-4F31-EA3B-D0C3-438E9F240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A976C-DD34-43B5-8A04-B06EF0326381}" type="datetime5">
              <a:rPr lang="en-US" smtClean="0"/>
              <a:t>23-Apr-26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2D5B71-532E-628D-ACFF-8A7772A7C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6F5F8-8C2B-01F1-8633-E6A25D85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7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8F8A4-ECC1-AE75-1D48-4F54AAD52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4A05D-C41E-3AB0-1588-44433A44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8AB538-17A6-78F8-BE5F-9D188BD99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51C6B0-4D06-FE35-28A5-1177CE33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301BB-7ACA-479A-BB0A-C86BE8F15054}" type="datetime5">
              <a:rPr lang="en-US" smtClean="0"/>
              <a:t>23-Apr-26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27806-B7CC-2EDD-023E-286D47131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880F26-F284-6F2E-4723-1ED13AF54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10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5FEA8-B8E3-A136-2961-40C4C0826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881625-B699-52D6-E39F-019CB41232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EA57FA-7B5D-9E28-F057-CE08BC917C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2CB11-0853-DF79-9FDC-68A00F6CB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D2ED0-9E9B-4CE7-BF0E-C321ADE267C4}" type="datetime5">
              <a:rPr lang="en-US" smtClean="0"/>
              <a:t>23-Apr-26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93FE6C-D97F-E6C3-D730-F83A33AF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A16C6F-9CBD-A1D7-01E1-166806E27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01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CE0BA-84E7-E6DB-408D-500C81434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CCC4E-A16E-0F57-5227-2AEC79F9C9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47540-2CBC-768B-F2BD-6D144D5CE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3FF26-F9F7-44B6-8663-544F46661BD4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7A001-1E16-24D1-CCBC-3D67ACF04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26EF3-18AF-D98F-2453-0B113587F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53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2F938-0033-6AFB-4A05-736F1B1CE2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EBDA19-8438-543D-1834-56ABA366C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9580B-7044-1D73-9823-131CB09F5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0FCA9-26B7-4E90-B1C0-AA9A1EB5B68D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B073-2458-3899-35F1-7198175A4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4239C-CDC3-F4E6-8D0E-8B9BA20FE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924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711B3D-AB6C-440B-59D0-6440FC6D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9B269-60E0-5E5E-4E6F-870F7AFD2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C8B63-5A06-AC4A-F747-FBE82A69A4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5CA55F-A689-45AF-ADFE-F8EB4C01965C}" type="datetime5">
              <a:rPr lang="en-US" smtClean="0"/>
              <a:t>23-Apr-26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67DA5-593B-5FAD-930E-816AB8C94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Department of E&amp;CE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B3149-548E-53DF-80B2-0756C998E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3EC36-CBB8-478C-9682-688EF8833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14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47472"/>
            <a:ext cx="12192000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20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Project Based Learning (PBL)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mbria"/>
              </a:rPr>
              <a:t>Department of Electronics and Computer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74552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3" y="1664208"/>
            <a:ext cx="110916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002060"/>
                </a:solidFill>
                <a:latin typeface="Cambria"/>
              </a:rPr>
              <a:t>SENTIMENT-DRIVEN LEAD-LAG NETWORK ANALYSIS OF </a:t>
            </a:r>
            <a:r>
              <a:rPr lang="en-US" sz="3200" b="1" dirty="0">
                <a:solidFill>
                  <a:srgbClr val="002060"/>
                </a:solidFill>
                <a:latin typeface="Cambria"/>
              </a:rPr>
              <a:t>FINANCIAL MARKET</a:t>
            </a:r>
            <a:endParaRPr sz="3200" b="1" dirty="0">
              <a:solidFill>
                <a:srgbClr val="002060"/>
              </a:solidFill>
              <a:latin typeface="Cambri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96243" y="3457753"/>
            <a:ext cx="29964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Cambria"/>
              </a:rPr>
              <a:t> Project </a:t>
            </a:r>
            <a:r>
              <a:rPr b="1" dirty="0">
                <a:solidFill>
                  <a:srgbClr val="C00000"/>
                </a:solidFill>
                <a:latin typeface="Cambria"/>
              </a:rPr>
              <a:t>Guide:  </a:t>
            </a:r>
            <a:r>
              <a:rPr lang="en-US" b="0" dirty="0" err="1">
                <a:solidFill>
                  <a:srgbClr val="002060"/>
                </a:solidFill>
                <a:latin typeface="Cambria"/>
              </a:rPr>
              <a:t>Ms.R.A.Patil</a:t>
            </a:r>
            <a:endParaRPr b="0" dirty="0">
              <a:solidFill>
                <a:srgbClr val="002060"/>
              </a:solidFill>
              <a:latin typeface="Cambr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40270" y="4250841"/>
            <a:ext cx="3308405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dirty="0">
                <a:solidFill>
                  <a:srgbClr val="C00000"/>
                </a:solidFill>
                <a:latin typeface="Cambria"/>
              </a:rPr>
              <a:t>Group Members:  </a:t>
            </a:r>
            <a:endParaRPr lang="en-US" dirty="0">
              <a:solidFill>
                <a:srgbClr val="002060"/>
              </a:solidFill>
              <a:latin typeface="Cambria"/>
            </a:endParaRPr>
          </a:p>
          <a:p>
            <a:pPr marL="342900" indent="-342900" algn="ctr">
              <a:buAutoNum type="arabicPeriod"/>
            </a:pPr>
            <a:r>
              <a:rPr lang="en-IN" dirty="0">
                <a:solidFill>
                  <a:srgbClr val="002060"/>
                </a:solidFill>
                <a:latin typeface="Cambria"/>
              </a:rPr>
              <a:t>25115 – DHRUVANSH SHAH</a:t>
            </a:r>
          </a:p>
          <a:p>
            <a:pPr marL="342900" indent="-342900" algn="ctr">
              <a:buAutoNum type="arabicPeriod"/>
            </a:pPr>
            <a:r>
              <a:rPr lang="en-IN" dirty="0">
                <a:solidFill>
                  <a:srgbClr val="002060"/>
                </a:solidFill>
                <a:latin typeface="Cambria"/>
              </a:rPr>
              <a:t>25121 – HARSH PATIL </a:t>
            </a:r>
            <a:endParaRPr b="0" dirty="0">
              <a:solidFill>
                <a:srgbClr val="002060"/>
              </a:solidFill>
              <a:latin typeface="Cambri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21727" y="5432970"/>
            <a:ext cx="274549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dirty="0">
                <a:solidFill>
                  <a:srgbClr val="C00000"/>
                </a:solidFill>
                <a:latin typeface="Cambria"/>
              </a:rPr>
              <a:t>Academic Year:  </a:t>
            </a:r>
            <a:r>
              <a:rPr b="0" dirty="0">
                <a:solidFill>
                  <a:srgbClr val="002060"/>
                </a:solidFill>
                <a:latin typeface="Cambria"/>
              </a:rPr>
              <a:t>2026-27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mbria"/>
              </a:rPr>
              <a:t>Pune Institute of Computer Technology, Pune – 411043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-59436" y="2007513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14884" y="1416601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Cambria"/>
              </a:rPr>
              <a:t>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31648" y="2186394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0" y="2309500"/>
            <a:ext cx="566928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Financial markets are complex information-processing systems where prices adjust continuously to new information.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Information diffusion is not instantaneous some stocks incorporate news rapidly and influence others, creating lead–lag relationships.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Traditional methods (cross-correlation, cointegration) are price-only; they miss qualitative signals in news.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b="0" dirty="0">
                <a:solidFill>
                  <a:srgbClr val="002060"/>
                </a:solidFill>
                <a:latin typeface="Cambria"/>
              </a:rPr>
              <a:t>-based NLP now enables scalable, domain-aware financial sentiment extraction.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36457" y="2331188"/>
            <a:ext cx="566928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Research Gap: Most studies focus on single-stock return prediction. Cross-asset, sentiment-driven network propagation is underexplored.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This work proposes an integrated 4-stage pipeline: Data → Sentiment → Granger Causality → Lead-Lag Network.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Applied to 10 NASDAQ technology stocks (2016–2020) using 73,936 financial headlines.</a:t>
            </a:r>
            <a:endParaRPr lang="en-US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b="0" dirty="0">
                <a:solidFill>
                  <a:srgbClr val="002060"/>
                </a:solidFill>
                <a:latin typeface="Cambria"/>
              </a:rPr>
              <a:t>Key finding: 3/10 tickers show Granger-verified sentiment predictability; clear leader/follower clusters emerge via Louvain.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21581" y="2007513"/>
            <a:ext cx="25400" cy="5029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14884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Literature Survey — Existing Techniques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798754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89972"/>
              </p:ext>
            </p:extLst>
          </p:nvPr>
        </p:nvGraphicFramePr>
        <p:xfrm>
          <a:off x="3048" y="2011680"/>
          <a:ext cx="116403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0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0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0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  <a:latin typeface="Cambria"/>
                        </a:rPr>
                        <a:t>Method / Paper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mbria"/>
                        </a:rPr>
                        <a:t>Advantage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mbria"/>
                        </a:rPr>
                        <a:t>Disadvantage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VADER (Hutto &amp; Gilbert, 2014)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Fast, simple, no training needed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Designed for social media; poor on finance text; no context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Loughran-McDonald Lexicon (2011)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Finance-specific word lists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No negation/context handling; word-count only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General BERT (Devlin et al., 2018)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Deep contextual language understanding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Not fine-tuned on finance; misclassifies domain terms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002060"/>
                          </a:solidFill>
                          <a:latin typeface="Cambria"/>
                        </a:rPr>
                        <a:t>FinBERT</a:t>
                      </a:r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 (Araci, 2019)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Finance-specific; handles context &amp; negation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Slower; requires GPU; 3-class only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Price Correlation Matrix (Mantegna 1999)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Simple, interpretable, fast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Symmetric — no directionality or lag structure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Granger VAR (Granger, 1969)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Formal statistical causality test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Assumes linearity; sensitive to lag selection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MST Networks (Mantegna, 1999)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Captures market hierarchy compactly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Loses weak relationships; threshold-sensitive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Louvain Clustering (Blondel et al., 2008)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2060"/>
                          </a:solidFill>
                          <a:latin typeface="Cambria"/>
                        </a:rPr>
                        <a:t>Fast, no k needed, high modularity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002060"/>
                          </a:solidFill>
                          <a:latin typeface="Cambria"/>
                        </a:rPr>
                        <a:t>Non-deterministic; resolution limit for dense graphs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5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B1E2C68-672E-920C-0433-1A38F95DD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08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528" y="1328405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Cambria"/>
              </a:rPr>
              <a:t>Proposed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528" y="2098448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6160" y="2248455"/>
            <a:ext cx="562356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00000"/>
                </a:solidFill>
                <a:latin typeface="Cambria"/>
              </a:rPr>
              <a:t>STAGE 1 — Data Collection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2.6M articles → filter Reuters/Forbes/BI → 73,936 headlines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yfinance</a:t>
            </a:r>
            <a:r>
              <a:rPr sz="1600" dirty="0">
                <a:solidFill>
                  <a:srgbClr val="002060"/>
                </a:solidFill>
                <a:latin typeface="Cambria"/>
              </a:rPr>
              <a:t>: 10 tech stocks, 2013–2020, 20,140 daily rows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Weekend dates → next trading day alignment</a:t>
            </a:r>
          </a:p>
          <a:p>
            <a:endParaRPr sz="1600" dirty="0">
              <a:solidFill>
                <a:srgbClr val="002060"/>
              </a:solidFill>
              <a:latin typeface="Cambria"/>
            </a:endParaRPr>
          </a:p>
          <a:p>
            <a:r>
              <a:rPr sz="1600" b="1" dirty="0">
                <a:solidFill>
                  <a:srgbClr val="C00000"/>
                </a:solidFill>
                <a:latin typeface="Cambria"/>
              </a:rPr>
              <a:t>STAGE 2 — Hybrid Sentiment Scoring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600" dirty="0">
                <a:solidFill>
                  <a:srgbClr val="002060"/>
                </a:solidFill>
                <a:latin typeface="Cambria"/>
              </a:rPr>
              <a:t> (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ProsusAI</a:t>
            </a:r>
            <a:r>
              <a:rPr sz="1600" dirty="0">
                <a:solidFill>
                  <a:srgbClr val="002060"/>
                </a:solidFill>
                <a:latin typeface="Cambria"/>
              </a:rPr>
              <a:t>): 3-class, batch=64, ~5.2 batches/sec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Loughran-McDonald: 140 pos + 893 neg finance words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Fusion: 0.70 ×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600" dirty="0">
                <a:solidFill>
                  <a:srgbClr val="002060"/>
                </a:solidFill>
                <a:latin typeface="Cambria"/>
              </a:rPr>
              <a:t> + 0.30 × LM → 7,817 stock-days</a:t>
            </a:r>
          </a:p>
          <a:p>
            <a:endParaRPr sz="1600" dirty="0">
              <a:solidFill>
                <a:srgbClr val="002060"/>
              </a:solidFill>
              <a:latin typeface="Cambria"/>
            </a:endParaRPr>
          </a:p>
          <a:p>
            <a:r>
              <a:rPr sz="1600" b="1" dirty="0">
                <a:solidFill>
                  <a:srgbClr val="C00000"/>
                </a:solidFill>
                <a:latin typeface="Cambria"/>
              </a:rPr>
              <a:t>Why </a:t>
            </a:r>
            <a:r>
              <a:rPr sz="1600" b="1" dirty="0" err="1">
                <a:solidFill>
                  <a:srgbClr val="C00000"/>
                </a:solidFill>
                <a:latin typeface="Cambria"/>
              </a:rPr>
              <a:t>FinBERT</a:t>
            </a:r>
            <a:r>
              <a:rPr sz="1600" b="1" dirty="0">
                <a:solidFill>
                  <a:srgbClr val="C00000"/>
                </a:solidFill>
                <a:latin typeface="Cambria"/>
              </a:rPr>
              <a:t> over VADER?  VADER ignores financial semantics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(e.g. 'liability', 'write-off').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600" dirty="0">
                <a:solidFill>
                  <a:srgbClr val="002060"/>
                </a:solidFill>
                <a:latin typeface="Cambria"/>
              </a:rPr>
              <a:t> is domain-trained.</a:t>
            </a:r>
          </a:p>
          <a:p>
            <a:r>
              <a:rPr sz="1600" b="1" dirty="0">
                <a:solidFill>
                  <a:srgbClr val="C00000"/>
                </a:solidFill>
                <a:latin typeface="Cambria"/>
              </a:rPr>
              <a:t>Why LM at 30%?  Adds lexical specificity; tempers over-confidence.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280" y="2245650"/>
            <a:ext cx="5623560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00000"/>
                </a:solidFill>
                <a:latin typeface="Cambria"/>
              </a:rPr>
              <a:t>STAGE 3 — Causality &amp; Lead-Lag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ADF test → all 10 series stationary (p &lt; 1e-14)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Granger causality at lags 1–5 (α = 0.05)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L(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600" dirty="0">
                <a:solidFill>
                  <a:srgbClr val="002060"/>
                </a:solidFill>
                <a:latin typeface="Cambria"/>
              </a:rPr>
              <a:t>) =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Σ</a:t>
            </a:r>
            <a:r>
              <a:rPr sz="1600" dirty="0">
                <a:solidFill>
                  <a:srgbClr val="002060"/>
                </a:solidFill>
                <a:latin typeface="Cambria"/>
              </a:rPr>
              <a:t>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k·corr</a:t>
            </a:r>
            <a:r>
              <a:rPr sz="1600" dirty="0">
                <a:solidFill>
                  <a:srgbClr val="002060"/>
                </a:solidFill>
                <a:latin typeface="Cambria"/>
              </a:rPr>
              <a:t>(rᵢ,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rⱼ.shift</a:t>
            </a:r>
            <a:r>
              <a:rPr sz="1600" dirty="0">
                <a:solidFill>
                  <a:srgbClr val="002060"/>
                </a:solidFill>
                <a:latin typeface="Cambria"/>
              </a:rPr>
              <a:t>(k)),  k ∈ [−10, +10]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Positive L(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600" dirty="0">
                <a:solidFill>
                  <a:srgbClr val="002060"/>
                </a:solidFill>
                <a:latin typeface="Cambria"/>
              </a:rPr>
              <a:t>) → stock 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i</a:t>
            </a:r>
            <a:r>
              <a:rPr sz="1600" dirty="0">
                <a:solidFill>
                  <a:srgbClr val="002060"/>
                </a:solidFill>
                <a:latin typeface="Cambria"/>
              </a:rPr>
              <a:t> leads stock j</a:t>
            </a:r>
          </a:p>
          <a:p>
            <a:endParaRPr sz="1600" dirty="0">
              <a:solidFill>
                <a:srgbClr val="002060"/>
              </a:solidFill>
              <a:latin typeface="Cambria"/>
            </a:endParaRPr>
          </a:p>
          <a:p>
            <a:r>
              <a:rPr sz="1600" b="1" dirty="0">
                <a:solidFill>
                  <a:srgbClr val="C00000"/>
                </a:solidFill>
                <a:latin typeface="Cambria"/>
              </a:rPr>
              <a:t>STAGE 4 — Network &amp; Signals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Build graph: edge if |L(</a:t>
            </a:r>
            <a:r>
              <a:rPr sz="160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600" dirty="0">
                <a:solidFill>
                  <a:srgbClr val="002060"/>
                </a:solidFill>
                <a:latin typeface="Cambria"/>
              </a:rPr>
              <a:t>)| &gt; 0.05 → 40 edges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Louvain community detection → 2 clusters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Net outflow labels clusters LEADER / FOLLOWER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Eigenvector centrality ranks influence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• Per-ticker signal table output</a:t>
            </a:r>
          </a:p>
          <a:p>
            <a:endParaRPr sz="1600" dirty="0">
              <a:solidFill>
                <a:srgbClr val="002060"/>
              </a:solidFill>
              <a:latin typeface="Cambria"/>
            </a:endParaRPr>
          </a:p>
          <a:p>
            <a:r>
              <a:rPr sz="1600" b="1" dirty="0">
                <a:solidFill>
                  <a:srgbClr val="C00000"/>
                </a:solidFill>
                <a:latin typeface="Cambria"/>
              </a:rPr>
              <a:t>Why Louvain over DSGD?  O(n log n), no k required,</a:t>
            </a:r>
          </a:p>
          <a:p>
            <a:r>
              <a:rPr sz="1600" dirty="0">
                <a:solidFill>
                  <a:srgbClr val="002060"/>
                </a:solidFill>
                <a:latin typeface="Cambria"/>
              </a:rPr>
              <a:t>  robust on sparse graphs, standard in fin. networks.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4320" y="1962282"/>
            <a:ext cx="25400" cy="5074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80744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Data Collection and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228004"/>
            <a:ext cx="530352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Raw corpus:  2,688,879 articles (Kaggle All-The-News 2.1)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After source filter (Reuters, Forbes, Business Insider):  898,047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After ticker matching (regex → symbol):  173,458 articles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After explode &amp; TICKERS filter:  73,936 headline-ticker rows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Price data 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yfinance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):  20,140 rows · 10 tickers · 2013–2020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Weekend/holiday dates shifted to next business day:  5,789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Final aligned sentiment dataset:  7,817 stock-day rows</a:t>
            </a:r>
          </a:p>
        </p:txBody>
      </p:sp>
      <p:pic>
        <p:nvPicPr>
          <p:cNvPr id="7" name="Picture 6" descr="eda_01_headlines_per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3084" y="1248112"/>
            <a:ext cx="6738916" cy="2888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99760" y="4118112"/>
            <a:ext cx="640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Cambria"/>
              </a:rPr>
              <a:t>Fig 1. News headline count per ticker (2013–2020)</a:t>
            </a:r>
          </a:p>
        </p:txBody>
      </p:sp>
      <p:pic>
        <p:nvPicPr>
          <p:cNvPr id="9" name="Picture 8" descr="eda_02_article_volume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99" y="4480560"/>
            <a:ext cx="11274552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062472"/>
            <a:ext cx="112745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Cambria"/>
              </a:rPr>
              <a:t>Fig 2. Monthly article volume over time (stacked by ticker)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84404" y="67722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" y="1314704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Sentiment Analysis — Hybrid </a:t>
            </a:r>
            <a:r>
              <a:rPr sz="2400" b="1" dirty="0" err="1">
                <a:solidFill>
                  <a:srgbClr val="C00000"/>
                </a:solidFill>
                <a:latin typeface="Cambria"/>
              </a:rPr>
              <a:t>FinBERT</a:t>
            </a:r>
            <a:r>
              <a:rPr sz="2400" b="1" dirty="0">
                <a:solidFill>
                  <a:srgbClr val="C00000"/>
                </a:solidFill>
                <a:latin typeface="Cambria"/>
              </a:rPr>
              <a:t> + Loughran-McDonald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87" y="2834862"/>
            <a:ext cx="5409381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ProsusAI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/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— 70% weight)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BERT fine-tuned on financial news &amp; analyst reports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 3-class: positive (+score), negative (–score), neutral (0)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 Batch inference: 64 headlines/batch, ~5.23 it/sec on MPS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 73,936 headlines scored in ≈ 3 min 41 sec</a:t>
            </a: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Loughran-McDonald Lexicon (30% weight)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 140 positive + 893 negative finance-specific words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 score = 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pos_count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–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neg_count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/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total_tokens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∈ [–1, +1]</a:t>
            </a: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</p:txBody>
      </p:sp>
      <p:pic>
        <p:nvPicPr>
          <p:cNvPr id="7" name="Picture 6" descr="eda_06_sentiment_distributio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549" y="2222708"/>
            <a:ext cx="6934964" cy="3717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79720" y="5963832"/>
            <a:ext cx="6492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002060"/>
                </a:solidFill>
                <a:latin typeface="Cambria"/>
              </a:rPr>
              <a:t>Fig 3. Daily composite sentiment score distribution by ticker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401B7-E8A6-13C4-6B82-418F3A7D5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AFE8D-57A6-AEB9-42AC-4FC4F66EBABB}"/>
              </a:ext>
            </a:extLst>
          </p:cNvPr>
          <p:cNvSpPr txBox="1"/>
          <p:nvPr/>
        </p:nvSpPr>
        <p:spPr>
          <a:xfrm>
            <a:off x="-184404" y="67722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026FEF-0690-C724-FAD4-241331D98631}"/>
              </a:ext>
            </a:extLst>
          </p:cNvPr>
          <p:cNvSpPr txBox="1"/>
          <p:nvPr/>
        </p:nvSpPr>
        <p:spPr>
          <a:xfrm>
            <a:off x="201168" y="1390650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Sentiment Analysis — Hybrid </a:t>
            </a:r>
            <a:r>
              <a:rPr sz="2400" b="1" dirty="0" err="1">
                <a:solidFill>
                  <a:srgbClr val="C00000"/>
                </a:solidFill>
                <a:latin typeface="Cambria"/>
              </a:rPr>
              <a:t>FinBERT</a:t>
            </a:r>
            <a:r>
              <a:rPr sz="2400" b="1" dirty="0">
                <a:solidFill>
                  <a:srgbClr val="C00000"/>
                </a:solidFill>
                <a:latin typeface="Cambria"/>
              </a:rPr>
              <a:t> + Loughran-McDonald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BFBB-B2FA-F1E6-7CE1-08AF92398328}"/>
              </a:ext>
            </a:extLst>
          </p:cNvPr>
          <p:cNvSpPr txBox="1"/>
          <p:nvPr/>
        </p:nvSpPr>
        <p:spPr>
          <a:xfrm>
            <a:off x="274320" y="1947830"/>
            <a:ext cx="748189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Fusion: 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final_score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= 0.70 ×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+ 0.30 × LM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Daily sentiment = mean of all headline scores per (date, ticker)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→ 7,817 stock-day observations, date range: 2016–2020</a:t>
            </a:r>
          </a:p>
        </p:txBody>
      </p:sp>
      <p:pic>
        <p:nvPicPr>
          <p:cNvPr id="9" name="Picture 8" descr="eda_07_sentiment_vs_return_NFLX.png">
            <a:extLst>
              <a:ext uri="{FF2B5EF4-FFF2-40B4-BE49-F238E27FC236}">
                <a16:creationId xmlns:a16="http://schemas.microsoft.com/office/drawing/2014/main" id="{D5CE57DF-962B-A326-DF64-E7F12DE4C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36" y="3268717"/>
            <a:ext cx="11834660" cy="32080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4A935B-BA65-87F7-B338-3C8FC5DACAE0}"/>
              </a:ext>
            </a:extLst>
          </p:cNvPr>
          <p:cNvSpPr txBox="1"/>
          <p:nvPr/>
        </p:nvSpPr>
        <p:spPr>
          <a:xfrm>
            <a:off x="274320" y="6423660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002060"/>
                </a:solidFill>
                <a:latin typeface="Cambria"/>
              </a:rPr>
              <a:t>Fig 4. 30-day rolling sentiment vs log return — NFLX (dual axis)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D0343-4545-9369-E9CF-58E82D7134D1}"/>
              </a:ext>
            </a:extLst>
          </p:cNvPr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8694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3196" y="1266496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Lead-Lag Analysis and Granger Causality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2045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C00000"/>
                </a:solidFill>
                <a:latin typeface="Cambria"/>
              </a:rPr>
              <a:t>Granger Causality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82271"/>
            <a:ext cx="502920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200" b="0" dirty="0">
                <a:solidFill>
                  <a:srgbClr val="002060"/>
                </a:solidFill>
                <a:latin typeface="Cambria"/>
              </a:rPr>
              <a:t>H₀: Sentiment does NOT Granger-cause stock returns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200" b="0" dirty="0">
                <a:solidFill>
                  <a:srgbClr val="002060"/>
                </a:solidFill>
                <a:latin typeface="Cambria"/>
              </a:rPr>
              <a:t>H₁: Sentiment Granger-causes stock returns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200" b="0" dirty="0">
                <a:solidFill>
                  <a:srgbClr val="002060"/>
                </a:solidFill>
                <a:latin typeface="Cambria"/>
              </a:rPr>
              <a:t>Test: F-test on restricted vs unrestricted VAR (lags 1–5)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200" b="0" dirty="0">
                <a:solidFill>
                  <a:srgbClr val="002060"/>
                </a:solidFill>
                <a:latin typeface="Cambria"/>
              </a:rPr>
              <a:t>Significance threshold: α = 0.05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200" b="0" dirty="0">
                <a:solidFill>
                  <a:srgbClr val="002060"/>
                </a:solidFill>
                <a:latin typeface="Cambria"/>
              </a:rPr>
              <a:t>ADF pre-check: all 10 series stationary (p &lt; 1×10⁻¹⁴)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4852274"/>
              </p:ext>
            </p:extLst>
          </p:nvPr>
        </p:nvGraphicFramePr>
        <p:xfrm>
          <a:off x="194088" y="3570790"/>
          <a:ext cx="5029200" cy="31726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Ticker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Verified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Opt. Lag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Min p-value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NFLX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✔ 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0.0003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AMZN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✔ YES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2 days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0.0312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INTC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✔ 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0.0326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AAPL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0.0646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NVDA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3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0.1013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GOOGL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3 days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0.1764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TSLA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0.2922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META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0.3323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AMD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5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0.4110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67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MSFT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2060"/>
                          </a:solidFill>
                          <a:latin typeface="Cambria"/>
                        </a:rPr>
                        <a:t>✘ 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02060"/>
                          </a:solidFill>
                          <a:latin typeface="Cambria"/>
                        </a:rPr>
                        <a:t>0.6906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9" name="Picture 8" descr="eda_09_granger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760" y="2148182"/>
            <a:ext cx="6400800" cy="4036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4476" y="6247055"/>
            <a:ext cx="640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002060"/>
                </a:solidFill>
                <a:latin typeface="Cambria"/>
              </a:rPr>
              <a:t>Fig 5. Granger causality min p-values across lags 1–5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1648" y="130483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Network Construction and Louvain Community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" y="20823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02060"/>
                </a:solidFill>
                <a:latin typeface="Cambria"/>
              </a:rPr>
              <a:t>Lead-Lag Score:  L(</a:t>
            </a:r>
            <a:r>
              <a:rPr sz="1300" b="1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300" b="1" dirty="0">
                <a:solidFill>
                  <a:srgbClr val="002060"/>
                </a:solidFill>
                <a:latin typeface="Cambria"/>
              </a:rPr>
              <a:t>) = </a:t>
            </a:r>
            <a:r>
              <a:rPr sz="1300" b="1" dirty="0" err="1">
                <a:solidFill>
                  <a:srgbClr val="002060"/>
                </a:solidFill>
                <a:latin typeface="Cambria"/>
              </a:rPr>
              <a:t>Σ</a:t>
            </a:r>
            <a:r>
              <a:rPr sz="1300" b="1" dirty="0">
                <a:solidFill>
                  <a:srgbClr val="002060"/>
                </a:solidFill>
                <a:latin typeface="Cambria"/>
              </a:rPr>
              <a:t> </a:t>
            </a:r>
            <a:r>
              <a:rPr sz="1300" b="1" dirty="0" err="1">
                <a:solidFill>
                  <a:srgbClr val="002060"/>
                </a:solidFill>
                <a:latin typeface="Cambria"/>
              </a:rPr>
              <a:t>k·corr</a:t>
            </a:r>
            <a:r>
              <a:rPr sz="1300" b="1" dirty="0">
                <a:solidFill>
                  <a:srgbClr val="002060"/>
                </a:solidFill>
                <a:latin typeface="Cambria"/>
              </a:rPr>
              <a:t>(rᵢ(t), rⱼ(t–k)),   k ∈ [–10, +10]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" y="2405328"/>
            <a:ext cx="499556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Positive L(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 →  stock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leads stock j  |  Negative  → 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lags j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Graph construction: add edge 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if |L(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)| &gt; 0.05  →  10 nodes, 40 edges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Louvain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maximises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modularity Q  →  2 communities detected (modularity Q &gt; 0.3)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Net outflow =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Σ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L(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from cluster to rest:  Partition 0 = +1.5188  →  LEADERS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Leaders:    AAPL · AMZN · NFLX · NVDA · TSLA  (net outflow &gt; 0)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Followers:  AMD · GOOGL · INTC · META · MSFT</a:t>
            </a:r>
            <a:endParaRPr lang="en-US" sz="1400" b="0" dirty="0">
              <a:solidFill>
                <a:srgbClr val="002060"/>
              </a:solidFill>
              <a:latin typeface="Cambria"/>
            </a:endParaRPr>
          </a:p>
          <a:p>
            <a:pPr>
              <a:spcBef>
                <a:spcPts val="400"/>
              </a:spcBef>
            </a:pPr>
            <a:endParaRPr sz="1400" b="0" dirty="0">
              <a:solidFill>
                <a:srgbClr val="002060"/>
              </a:solidFill>
              <a:latin typeface="Cambria"/>
            </a:endParaRP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Eigenvector centrality (top):  META=1.00 · AMZN=0.675 · NFLX=0.627 · GOOGL=0.614</a:t>
            </a:r>
          </a:p>
        </p:txBody>
      </p:sp>
      <p:pic>
        <p:nvPicPr>
          <p:cNvPr id="10" name="Picture 9" descr="eda_13_net_out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4440" y="2265260"/>
            <a:ext cx="6907560" cy="35791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360" y="5935852"/>
            <a:ext cx="5943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002060"/>
                </a:solidFill>
                <a:latin typeface="Cambria"/>
              </a:rPr>
              <a:t>Fig 7. Net outflow scores — leader vs follower partition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1647" y="1272808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Software Results — Snapshots and Tables</a:t>
            </a:r>
          </a:p>
        </p:txBody>
      </p:sp>
      <p:pic>
        <p:nvPicPr>
          <p:cNvPr id="6" name="Picture 5" descr="eda_03_normalised_pric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5933"/>
            <a:ext cx="5623560" cy="2490822"/>
          </a:xfrm>
          <a:prstGeom prst="rect">
            <a:avLst/>
          </a:prstGeom>
        </p:spPr>
      </p:pic>
      <p:pic>
        <p:nvPicPr>
          <p:cNvPr id="8" name="Picture 7" descr="eda_04_log_return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888" y="1895933"/>
            <a:ext cx="6328303" cy="2457070"/>
          </a:xfrm>
          <a:prstGeom prst="rect">
            <a:avLst/>
          </a:prstGeom>
        </p:spPr>
      </p:pic>
      <p:pic>
        <p:nvPicPr>
          <p:cNvPr id="10" name="Picture 9" descr="eda_11_leadlag_scores_NFL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93413"/>
            <a:ext cx="5623560" cy="2240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44540" y="4353003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C00000"/>
                </a:solidFill>
                <a:latin typeface="Cambria"/>
              </a:rPr>
              <a:t>NFLX Signal Table (LEADER → Followers):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020006"/>
              </p:ext>
            </p:extLst>
          </p:nvPr>
        </p:nvGraphicFramePr>
        <p:xfrm>
          <a:off x="5918888" y="4593413"/>
          <a:ext cx="595307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4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4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4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Related Ticker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Lead-Lag Score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Optimal Lag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META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+0.322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GOOGL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02060"/>
                          </a:solidFill>
                          <a:latin typeface="Cambria"/>
                        </a:rPr>
                        <a:t>+0.313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3 days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INTC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02060"/>
                          </a:solidFill>
                          <a:latin typeface="Cambria"/>
                        </a:rPr>
                        <a:t>+0.262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MSFT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−0.188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1 day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AMD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02060"/>
                          </a:solidFill>
                          <a:latin typeface="Cambria"/>
                        </a:rPr>
                        <a:t>+0.036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02060"/>
                          </a:solidFill>
                          <a:latin typeface="Cambria"/>
                        </a:rPr>
                        <a:t>5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28473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Comparison with Existing Techniques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15263"/>
              </p:ext>
            </p:extLst>
          </p:nvPr>
        </p:nvGraphicFramePr>
        <p:xfrm>
          <a:off x="169164" y="2240280"/>
          <a:ext cx="116403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0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0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0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00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00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0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mbria"/>
                        </a:rPr>
                        <a:t>Method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Cambria"/>
                        </a:rPr>
                        <a:t>Sentiment 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mbria"/>
                        </a:rPr>
                        <a:t>Network Method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mbria"/>
                        </a:rPr>
                        <a:t>Directional?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mbria"/>
                        </a:rPr>
                        <a:t>Causality Test?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mbria"/>
                        </a:rPr>
                        <a:t>Signal Output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2060"/>
                          </a:solidFill>
                          <a:latin typeface="Cambria"/>
                        </a:rPr>
                        <a:t>Liu et al. (2020)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TextBlob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Correlation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Return prediction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Tetlock (2007)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Custom lexicon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None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Return regression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Billio et al. 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None (price)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Granger network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Systemic risk index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Onnela et al. (2004)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None (price)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MST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Taxonomy only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PROPOSED FRAMEWORK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FinBERT + LM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Louvain community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YES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2060"/>
                          </a:solidFill>
                          <a:latin typeface="Cambria"/>
                        </a:rPr>
                        <a:t>YES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2060"/>
                          </a:solidFill>
                          <a:latin typeface="Cambria"/>
                        </a:rPr>
                        <a:t>Full signal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2532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C00000"/>
                </a:solidFill>
                <a:latin typeface="Cambria"/>
              </a:rPr>
              <a:t>Key Advantages of Proposed Method: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5573268"/>
            <a:ext cx="11430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Domain-aware NLP: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captures financial semantics that VADER/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TextBlob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miss entirely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Hybrid scoring: 70/30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FinBERT+LM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validated — produces 3 significant Granger tickers vs 1 with VADER-only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Directional network: Lead-lag score L(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encodes both magnitude AND direction unlike symmetric correlation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Actionable output: Per-ticker signal table with lead score and lag days — ready for portfolio strategy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5844" y="1332107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Performance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3049" y="2717047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4489" y="2794390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Dataset Size:  </a:t>
            </a:r>
            <a:r>
              <a:rPr sz="1150" b="0">
                <a:solidFill>
                  <a:srgbClr val="002060"/>
                </a:solidFill>
                <a:latin typeface="Cambria"/>
              </a:rPr>
              <a:t>73,936 headline-ticker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3049" y="3274831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4489" y="3311407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Price Observations:  </a:t>
            </a:r>
            <a:r>
              <a:rPr sz="1150" b="0">
                <a:solidFill>
                  <a:srgbClr val="002060"/>
                </a:solidFill>
                <a:latin typeface="Cambria"/>
              </a:rPr>
              <a:t>20,140 rows · 10 tickers · 2013–2020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3049" y="3832615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4489" y="3869191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Sentiment Coverage:  </a:t>
            </a:r>
            <a:r>
              <a:rPr sz="1150" b="0">
                <a:solidFill>
                  <a:srgbClr val="002060"/>
                </a:solidFill>
                <a:latin typeface="Cambria"/>
              </a:rPr>
              <a:t>7,817 stock-day rows (2016–2020)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3049" y="4390399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4489" y="4426975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FinBERT Throughput:  </a:t>
            </a:r>
            <a:r>
              <a:rPr sz="1150" b="0">
                <a:solidFill>
                  <a:srgbClr val="002060"/>
                </a:solidFill>
                <a:latin typeface="Cambria"/>
              </a:rPr>
              <a:t>≈ 5.23 batches/sec (batch=64, Apple MPS)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3049" y="4948183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4489" y="4984759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Scoring Time:  </a:t>
            </a:r>
            <a:r>
              <a:rPr sz="1150" b="0">
                <a:solidFill>
                  <a:srgbClr val="002060"/>
                </a:solidFill>
                <a:latin typeface="Cambria"/>
              </a:rPr>
              <a:t>≈ 3 min 41 sec for 73,936 headlines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3049" y="5505967"/>
            <a:ext cx="5577840" cy="475488"/>
          </a:xfrm>
          <a:prstGeom prst="rect">
            <a:avLst/>
          </a:prstGeom>
          <a:solidFill>
            <a:srgbClr val="E8EFF8"/>
          </a:solidFill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4489" y="5542543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2060"/>
                </a:solidFill>
                <a:latin typeface="Cambria"/>
              </a:rPr>
              <a:t>Stationarity (ADF):  </a:t>
            </a:r>
            <a:r>
              <a:rPr sz="1150" b="0">
                <a:solidFill>
                  <a:srgbClr val="002060"/>
                </a:solidFill>
                <a:latin typeface="Cambria"/>
              </a:rPr>
              <a:t>10/10 tickers stationary (p &lt; 1×10⁻¹⁴)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9489" y="2717047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80929" y="2753623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Granger Verified:  </a:t>
            </a:r>
            <a:r>
              <a:rPr sz="1150" b="0">
                <a:solidFill>
                  <a:srgbClr val="002060"/>
                </a:solidFill>
                <a:latin typeface="Cambria"/>
              </a:rPr>
              <a:t>3/10 tickers (NFLX p=0.0003, AMZN p=0.031, INTC p=0.033)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9489" y="3274831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0929" y="3311407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Network Density:  </a:t>
            </a:r>
            <a:r>
              <a:rPr sz="1150" b="0">
                <a:solidFill>
                  <a:srgbClr val="002060"/>
                </a:solidFill>
                <a:latin typeface="Cambria"/>
              </a:rPr>
              <a:t>40 / 90 possible edges (44.4%)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9489" y="3832615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80929" y="3869191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Communities (Louvain):  </a:t>
            </a:r>
            <a:r>
              <a:rPr sz="1150" b="0">
                <a:solidFill>
                  <a:srgbClr val="002060"/>
                </a:solidFill>
                <a:latin typeface="Cambria"/>
              </a:rPr>
              <a:t>2 clusters · 5 leaders + 5 followers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9489" y="4390399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0929" y="4426975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Leader Net Outflow:  </a:t>
            </a:r>
            <a:r>
              <a:rPr sz="1150" b="0">
                <a:solidFill>
                  <a:srgbClr val="002060"/>
                </a:solidFill>
                <a:latin typeface="Cambria"/>
              </a:rPr>
              <a:t>+1.519 (Partition 0: AAPL/AMZN/NFLX/NVDA/TSLA)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9489" y="4948183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80929" y="4984759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Max Lead-Lag Score:  </a:t>
            </a:r>
            <a:r>
              <a:rPr sz="1150" b="0">
                <a:solidFill>
                  <a:srgbClr val="002060"/>
                </a:solidFill>
                <a:latin typeface="Cambria"/>
              </a:rPr>
              <a:t>NFLX→META: +0.322 (lag 1 day)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9489" y="5505967"/>
            <a:ext cx="5577840" cy="475488"/>
          </a:xfrm>
          <a:prstGeom prst="rect">
            <a:avLst/>
          </a:prstGeom>
          <a:solidFill>
            <a:srgbClr val="F8EFEF"/>
          </a:solidFill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80929" y="5542543"/>
            <a:ext cx="53949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C00000"/>
                </a:solidFill>
                <a:latin typeface="Cambria"/>
              </a:rPr>
              <a:t>Top Eigenvector Centrality:  </a:t>
            </a:r>
            <a:r>
              <a:rPr sz="1150" b="0">
                <a:solidFill>
                  <a:srgbClr val="002060"/>
                </a:solidFill>
                <a:latin typeface="Cambria"/>
              </a:rPr>
              <a:t>META=1.00 · AMZN=0.675 · NFLX=0.627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1648" y="1313855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60" y="2354580"/>
            <a:ext cx="114300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Developed a reproducible 4-stage pipeline integrating NLP, econometrics, and network science for cross-asset signal generation.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Hybrid 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FinBERT+LM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 sentiment model (70/30) outperforms VADER-only baseline </a:t>
            </a:r>
            <a:r>
              <a:rPr lang="en-US" sz="1400" dirty="0">
                <a:solidFill>
                  <a:srgbClr val="002060"/>
                </a:solidFill>
                <a:latin typeface="Cambria"/>
              </a:rPr>
              <a:t> 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detects 3× more Granger-significant tickers.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ADF testing confirms all 10 log-return series are stationary, satisfying the prerequisite for valid Granger causality analysis.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3/10 tickers (NFLX p=0.0003, AMZN p=0.031, INTC p=0.033) exhibit statistically significant sentiment-to-return predictability.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Lead-lag matrix L(</a:t>
            </a:r>
            <a:r>
              <a:rPr sz="1400" b="0" dirty="0" err="1">
                <a:solidFill>
                  <a:srgbClr val="002060"/>
                </a:solidFill>
                <a:latin typeface="Cambria"/>
              </a:rPr>
              <a:t>i,j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) captures directional temporal dependencies; Louvain detects a stable 5+5 leader/follower partition.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META's high eigenvector centrality (1.00) despite follower status shows distinction between influence and connectivity.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400" b="0" dirty="0">
                <a:solidFill>
                  <a:srgbClr val="002060"/>
                </a:solidFill>
                <a:latin typeface="Cambria"/>
              </a:rPr>
              <a:t>NFLX leads META (lag 1), GOOGL (lag 3), and INTC (lag 1) </a:t>
            </a:r>
            <a:r>
              <a:rPr lang="en-US" sz="1400" dirty="0">
                <a:solidFill>
                  <a:srgbClr val="002060"/>
                </a:solidFill>
                <a:latin typeface="Cambria"/>
              </a:rPr>
              <a:t> </a:t>
            </a:r>
            <a:r>
              <a:rPr sz="1400" b="0" dirty="0">
                <a:solidFill>
                  <a:srgbClr val="002060"/>
                </a:solidFill>
                <a:latin typeface="Cambria"/>
              </a:rPr>
              <a:t>providing 1–3 day-ahead cross-stock signals.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614104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Future Scope: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254313"/>
            <a:ext cx="1143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buChar char="►"/>
            </a:pPr>
            <a:r>
              <a:rPr sz="1600" b="0">
                <a:solidFill>
                  <a:srgbClr val="002060"/>
                </a:solidFill>
                <a:latin typeface="Cambria"/>
              </a:rPr>
              <a:t>Extend to multi-sector universe (finance, healthcare, energy) to validate cross-sector generalisability.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600" b="0">
                <a:solidFill>
                  <a:srgbClr val="002060"/>
                </a:solidFill>
                <a:latin typeface="Cambria"/>
              </a:rPr>
              <a:t>Incorporate intraday sentiment (Twitter/Reddit) and test on shorter time horizons.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600" b="0">
                <a:solidFill>
                  <a:srgbClr val="002060"/>
                </a:solidFill>
                <a:latin typeface="Cambria"/>
              </a:rPr>
              <a:t>Backtest trading signals with transaction cost modelling and risk-adjusted return metrics.</a:t>
            </a:r>
          </a:p>
          <a:p>
            <a:pPr marL="342900" indent="-342900">
              <a:spcBef>
                <a:spcPts val="400"/>
              </a:spcBef>
              <a:buChar char="►"/>
            </a:pPr>
            <a:r>
              <a:rPr sz="1600" b="0">
                <a:solidFill>
                  <a:srgbClr val="002060"/>
                </a:solidFill>
                <a:latin typeface="Cambria"/>
              </a:rPr>
              <a:t>Apply SHAP explainability to identify which headline features drive FinBERT sentiment scores.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1648" y="1378077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References (IEEE Format)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055" y="2229337"/>
            <a:ext cx="12054945" cy="3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[1]  D. Araci, "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FinBERT</a:t>
            </a:r>
            <a:r>
              <a:rPr sz="1200" dirty="0">
                <a:solidFill>
                  <a:srgbClr val="002060"/>
                </a:solidFill>
                <a:latin typeface="Cambria"/>
              </a:rPr>
              <a:t>: Financial Sentiment Analysis with Pre-trained Language Models," arXiv:1908.10063, Aug. 2019.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[2]  T. Loughran and B. McDonald, "When Is a Liability Not a Liability? Textual Analysis, Dictionaries, and 10-Ks," J. Finance, vol. 66, no. 1, pp. 35–65, Feb. 2011.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[3]  A. Lo and A. C.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MacKinlay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"When Are Contrarian Profits Due to Stock Market Overreaction?" Rev.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Financ</a:t>
            </a:r>
            <a:r>
              <a:rPr sz="1200" dirty="0">
                <a:solidFill>
                  <a:srgbClr val="002060"/>
                </a:solidFill>
                <a:latin typeface="Cambria"/>
              </a:rPr>
              <a:t>. Stud., vol. 3, no. 2, pp. 175–205, 1990.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[4]  C. W. J. Granger, "Investigating Causal Relations by Econometric Models and Cross-spectral Methods,"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Econometrica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vol. 37, no. 3, pp. 424–438, Jul. 1969.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[5]  V. D. Blondel, J.-L. Guillaume, R. Lambiotte, and E. Lefebvre, "Fast unfolding of communities in large networks," J. Stat. Mech., vol. 2008, no. 10, p. P10008, Oct. 2008.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[6]  R. N. Mantegna, "Hierarchical structure in financial markets," Eur. Phys. J. B, vol. 11, no. 1, pp. 193–197, 1999.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[7]  J. P.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Onnela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A. Chakraborti, K. Kaski, J. Kertesz, and A. Kanto, "Dynamics of market correlations," Phys. Rev. E, vol. 68, no. 5, p. 056110, Nov. 2003.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[8]  T. Chordia and B. Swaminathan, "Trading Volume and Cross-Autocorrelations in Stock Returns," J. Finance, vol. 55, no. 2, pp. 913–935, Apr. 2000.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[9]  P.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Bonacich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"Factoring and weighting approaches to status scores," J. Math.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Sociol</a:t>
            </a:r>
            <a:r>
              <a:rPr sz="1200" dirty="0">
                <a:solidFill>
                  <a:srgbClr val="002060"/>
                </a:solidFill>
                <a:latin typeface="Cambria"/>
              </a:rPr>
              <a:t>., vol. 2, pp. 113–120, 1972.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[10] B. Hutto and E. Gilbert, "VADER: A Parsimonious Rule-Based Model for Sentiment Analysis of Social Media Text," in Proc. ICWSM, Ann Arbor, MI, 2014.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[11] M.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Billio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M.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Getmansky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A. Lo, and L.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Pelizzon</a:t>
            </a:r>
            <a:r>
              <a:rPr sz="1200" dirty="0">
                <a:solidFill>
                  <a:srgbClr val="002060"/>
                </a:solidFill>
                <a:latin typeface="Cambria"/>
              </a:rPr>
              <a:t>, "Econometric measures of connectedness and systemic risk in finance and insurance," J. </a:t>
            </a:r>
            <a:r>
              <a:rPr sz="1200" dirty="0" err="1">
                <a:solidFill>
                  <a:srgbClr val="002060"/>
                </a:solidFill>
                <a:latin typeface="Cambria"/>
              </a:rPr>
              <a:t>Financ</a:t>
            </a:r>
            <a:r>
              <a:rPr sz="1200" dirty="0">
                <a:solidFill>
                  <a:srgbClr val="002060"/>
                </a:solidFill>
                <a:latin typeface="Cambria"/>
              </a:rPr>
              <a:t>. Econ., vol. 104, pp. 535–559, 2012.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200" dirty="0">
                <a:solidFill>
                  <a:srgbClr val="002060"/>
                </a:solidFill>
                <a:latin typeface="Cambria"/>
              </a:rPr>
              <a:t>[12] B. Toth and J. Kertesz, "Increasing market efficiency: Evolution of cross-correlations of stock returns," Physica A, vol. 360, pp. 505–515, 2006.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10ACF-FCFD-C8A6-90B3-04264424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16</a:t>
            </a:fld>
            <a:endParaRPr lang="en-US"/>
          </a:p>
        </p:txBody>
      </p:sp>
      <p:pic>
        <p:nvPicPr>
          <p:cNvPr id="3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5037CC-8C09-E604-0C15-0D9666811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7876"/>
            <a:ext cx="8686800" cy="240030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23010D-050B-9302-5AA1-76135CB490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11600"/>
            <a:ext cx="7569200" cy="294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41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D5AAC-A263-8ED5-A0AF-D83020CC3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FA4DA6-F9AE-07F1-099D-17C5A912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3EC36-CBB8-478C-9682-688EF8833AFC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 descr="A screenshot of a diagram&#10;&#10;AI-generated content may be incorrect.">
            <a:extLst>
              <a:ext uri="{FF2B5EF4-FFF2-40B4-BE49-F238E27FC236}">
                <a16:creationId xmlns:a16="http://schemas.microsoft.com/office/drawing/2014/main" id="{721787D8-770E-A576-B568-354DC8797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7772400" cy="3281431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3811D70-4416-557E-C94D-36D4335D2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02892"/>
            <a:ext cx="7772400" cy="285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796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D2DDA7-7E97-6014-15FD-F3918FF2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D2DC00-1364-0474-25A0-296BCC2480E1}"/>
              </a:ext>
            </a:extLst>
          </p:cNvPr>
          <p:cNvSpPr txBox="1"/>
          <p:nvPr/>
        </p:nvSpPr>
        <p:spPr>
          <a:xfrm>
            <a:off x="0" y="0"/>
            <a:ext cx="1219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Cambria"/>
              </a:rPr>
              <a:t>(An Autonomous Institute affiliated to Savitribai Phule Pune University)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61F0A5-E8A7-4D06-94D7-3C64FB0C7E99}"/>
              </a:ext>
            </a:extLst>
          </p:cNvPr>
          <p:cNvSpPr/>
          <p:nvPr/>
        </p:nvSpPr>
        <p:spPr>
          <a:xfrm>
            <a:off x="0" y="329184"/>
            <a:ext cx="12192000" cy="25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D765CB-879D-96D6-0B98-09096A361EB6}"/>
              </a:ext>
            </a:extLst>
          </p:cNvPr>
          <p:cNvSpPr txBox="1"/>
          <p:nvPr/>
        </p:nvSpPr>
        <p:spPr>
          <a:xfrm>
            <a:off x="275844" y="135331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Cambria"/>
              </a:rPr>
              <a:t>System Architecture — 4-Stage Pipeline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0CDFBA-472F-F9DB-45CB-C4369EAFB7C9}"/>
              </a:ext>
            </a:extLst>
          </p:cNvPr>
          <p:cNvSpPr/>
          <p:nvPr/>
        </p:nvSpPr>
        <p:spPr>
          <a:xfrm>
            <a:off x="292261" y="847084"/>
            <a:ext cx="11640312" cy="1905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E8C8A9-079C-C166-74F9-0DD309DD7089}"/>
              </a:ext>
            </a:extLst>
          </p:cNvPr>
          <p:cNvSpPr/>
          <p:nvPr/>
        </p:nvSpPr>
        <p:spPr>
          <a:xfrm>
            <a:off x="2163309" y="2313432"/>
            <a:ext cx="1234440" cy="658368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mbria"/>
              </a:rPr>
              <a:t>STAGE 1
DATA COLLECTION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DDA8D1-1483-85CA-949A-F769573B3E9F}"/>
              </a:ext>
            </a:extLst>
          </p:cNvPr>
          <p:cNvSpPr/>
          <p:nvPr/>
        </p:nvSpPr>
        <p:spPr>
          <a:xfrm>
            <a:off x="2163309" y="3593592"/>
            <a:ext cx="1234440" cy="658368"/>
          </a:xfrm>
          <a:prstGeom prst="rect">
            <a:avLst/>
          </a:prstGeom>
          <a:solidFill>
            <a:srgbClr val="00508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mbria"/>
              </a:rPr>
              <a:t>STAGE 2
SENTIMENT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1AB2CC-41E3-07B1-9C68-34336D0EA49E}"/>
              </a:ext>
            </a:extLst>
          </p:cNvPr>
          <p:cNvSpPr/>
          <p:nvPr/>
        </p:nvSpPr>
        <p:spPr>
          <a:xfrm>
            <a:off x="2163309" y="4873752"/>
            <a:ext cx="1234440" cy="658368"/>
          </a:xfrm>
          <a:prstGeom prst="rect">
            <a:avLst/>
          </a:prstGeom>
          <a:solidFill>
            <a:srgbClr val="7B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mbria"/>
              </a:rPr>
              <a:t>STAGE 3
GRANGER + LEAD-LAG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655C06-906E-219C-A663-70B25F29CA22}"/>
              </a:ext>
            </a:extLst>
          </p:cNvPr>
          <p:cNvSpPr/>
          <p:nvPr/>
        </p:nvSpPr>
        <p:spPr>
          <a:xfrm>
            <a:off x="2163309" y="6153912"/>
            <a:ext cx="1234440" cy="658368"/>
          </a:xfrm>
          <a:prstGeom prst="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mbria"/>
              </a:rPr>
              <a:t>STAGE 4
NETWORK + SIGNALS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6561F-29FC-E313-4886-521909FA893B}"/>
              </a:ext>
            </a:extLst>
          </p:cNvPr>
          <p:cNvSpPr/>
          <p:nvPr/>
        </p:nvSpPr>
        <p:spPr>
          <a:xfrm>
            <a:off x="3489189" y="237744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Kaggle News
2.6M Articles</a:t>
            </a:r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A704EEBD-D8E7-F6B7-F580-AEB98B7CB744}"/>
              </a:ext>
            </a:extLst>
          </p:cNvPr>
          <p:cNvSpPr/>
          <p:nvPr/>
        </p:nvSpPr>
        <p:spPr>
          <a:xfrm>
            <a:off x="4906509" y="249631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2FE789-198D-FC0D-CD9D-8AF430A52066}"/>
              </a:ext>
            </a:extLst>
          </p:cNvPr>
          <p:cNvSpPr/>
          <p:nvPr/>
        </p:nvSpPr>
        <p:spPr>
          <a:xfrm>
            <a:off x="5226549" y="237744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Source Filter
Reuters/Forbes/BI</a:t>
            </a:r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FC712C82-5648-9E7D-8C9D-FE628A42ECAF}"/>
              </a:ext>
            </a:extLst>
          </p:cNvPr>
          <p:cNvSpPr/>
          <p:nvPr/>
        </p:nvSpPr>
        <p:spPr>
          <a:xfrm>
            <a:off x="6643869" y="249631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5E04D8-A92F-76E0-120F-075FDC202FA4}"/>
              </a:ext>
            </a:extLst>
          </p:cNvPr>
          <p:cNvSpPr/>
          <p:nvPr/>
        </p:nvSpPr>
        <p:spPr>
          <a:xfrm>
            <a:off x="6963909" y="237744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Ticker Matcher
Regex → Symbol</a:t>
            </a:r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FC93599C-6194-D595-8AA2-3659AA4A0500}"/>
              </a:ext>
            </a:extLst>
          </p:cNvPr>
          <p:cNvSpPr/>
          <p:nvPr/>
        </p:nvSpPr>
        <p:spPr>
          <a:xfrm>
            <a:off x="8381229" y="249631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C6FD1B-3520-C48D-BB60-389A1805F8F1}"/>
              </a:ext>
            </a:extLst>
          </p:cNvPr>
          <p:cNvSpPr/>
          <p:nvPr/>
        </p:nvSpPr>
        <p:spPr>
          <a:xfrm>
            <a:off x="8701269" y="237744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Raw News
73,936 rows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1298A9-74E0-1DCB-55BF-4428CC04FAFE}"/>
              </a:ext>
            </a:extLst>
          </p:cNvPr>
          <p:cNvSpPr/>
          <p:nvPr/>
        </p:nvSpPr>
        <p:spPr>
          <a:xfrm>
            <a:off x="3489189" y="292608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 dirty="0">
                <a:solidFill>
                  <a:srgbClr val="FFFFFF"/>
                </a:solidFill>
                <a:latin typeface="Cambria"/>
              </a:rPr>
              <a:t>Yahoo Finance
API</a:t>
            </a:r>
          </a:p>
        </p:txBody>
      </p:sp>
      <p:sp>
        <p:nvSpPr>
          <p:cNvPr id="18" name="Can 17">
            <a:extLst>
              <a:ext uri="{FF2B5EF4-FFF2-40B4-BE49-F238E27FC236}">
                <a16:creationId xmlns:a16="http://schemas.microsoft.com/office/drawing/2014/main" id="{D77E5DAF-F8D8-6F06-19C3-59C40813B202}"/>
              </a:ext>
            </a:extLst>
          </p:cNvPr>
          <p:cNvSpPr/>
          <p:nvPr/>
        </p:nvSpPr>
        <p:spPr>
          <a:xfrm>
            <a:off x="4906509" y="304495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1DC12-04E9-47AE-9813-4D95CD399729}"/>
              </a:ext>
            </a:extLst>
          </p:cNvPr>
          <p:cNvSpPr/>
          <p:nvPr/>
        </p:nvSpPr>
        <p:spPr>
          <a:xfrm>
            <a:off x="5226549" y="292608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Price Data
OHLCV</a:t>
            </a: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3721FE54-AE03-AA83-17A7-5171E1CFE2B8}"/>
              </a:ext>
            </a:extLst>
          </p:cNvPr>
          <p:cNvSpPr/>
          <p:nvPr/>
        </p:nvSpPr>
        <p:spPr>
          <a:xfrm>
            <a:off x="6643869" y="304495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30B207-C62E-E504-F4D3-21746305E5D7}"/>
              </a:ext>
            </a:extLst>
          </p:cNvPr>
          <p:cNvSpPr/>
          <p:nvPr/>
        </p:nvSpPr>
        <p:spPr>
          <a:xfrm>
            <a:off x="6963909" y="292608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Log Returns
rₜ=ln(Pₜ/Pₜ₋₁)</a:t>
            </a:r>
          </a:p>
        </p:txBody>
      </p:sp>
      <p:sp>
        <p:nvSpPr>
          <p:cNvPr id="22" name="Can 21">
            <a:extLst>
              <a:ext uri="{FF2B5EF4-FFF2-40B4-BE49-F238E27FC236}">
                <a16:creationId xmlns:a16="http://schemas.microsoft.com/office/drawing/2014/main" id="{D0A64B13-DE4F-F3C5-5E01-58170D331BA4}"/>
              </a:ext>
            </a:extLst>
          </p:cNvPr>
          <p:cNvSpPr/>
          <p:nvPr/>
        </p:nvSpPr>
        <p:spPr>
          <a:xfrm>
            <a:off x="8381229" y="3044952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EDF935-9B2C-AC6C-1C11-D2FB0057F462}"/>
              </a:ext>
            </a:extLst>
          </p:cNvPr>
          <p:cNvSpPr/>
          <p:nvPr/>
        </p:nvSpPr>
        <p:spPr>
          <a:xfrm>
            <a:off x="8701269" y="2926080"/>
            <a:ext cx="1417320" cy="438912"/>
          </a:xfrm>
          <a:prstGeom prst="rect">
            <a:avLst/>
          </a:prstGeom>
          <a:solidFill>
            <a:srgbClr val="00206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Aligned
Dataset</a:t>
            </a:r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BB9028D0-BC0D-5383-793B-8E06B1CB90BE}"/>
              </a:ext>
            </a:extLst>
          </p:cNvPr>
          <p:cNvSpPr/>
          <p:nvPr/>
        </p:nvSpPr>
        <p:spPr>
          <a:xfrm>
            <a:off x="9309345" y="2862072"/>
            <a:ext cx="201168" cy="256032"/>
          </a:xfrm>
          <a:prstGeom prst="plus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AC52025-BF47-F2CB-DEF9-478E535C36E6}"/>
              </a:ext>
            </a:extLst>
          </p:cNvPr>
          <p:cNvSpPr/>
          <p:nvPr/>
        </p:nvSpPr>
        <p:spPr>
          <a:xfrm>
            <a:off x="3489189" y="3630168"/>
            <a:ext cx="1417320" cy="438912"/>
          </a:xfrm>
          <a:prstGeom prst="rect">
            <a:avLst/>
          </a:prstGeom>
          <a:solidFill>
            <a:srgbClr val="00508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FinBERT
70% Weight</a:t>
            </a: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5481C8E1-E91D-19EE-DCD3-BF7807D90BD2}"/>
              </a:ext>
            </a:extLst>
          </p:cNvPr>
          <p:cNvSpPr/>
          <p:nvPr/>
        </p:nvSpPr>
        <p:spPr>
          <a:xfrm>
            <a:off x="4906509" y="374904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3C3039-6621-6DEF-6FAF-3B019C26145E}"/>
              </a:ext>
            </a:extLst>
          </p:cNvPr>
          <p:cNvSpPr/>
          <p:nvPr/>
        </p:nvSpPr>
        <p:spPr>
          <a:xfrm>
            <a:off x="5226549" y="3630168"/>
            <a:ext cx="1417320" cy="438912"/>
          </a:xfrm>
          <a:prstGeom prst="rect">
            <a:avLst/>
          </a:prstGeom>
          <a:solidFill>
            <a:srgbClr val="00508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LM Lexicon
30% Weight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AFEA2CC1-8777-366A-576B-B37299E965E5}"/>
              </a:ext>
            </a:extLst>
          </p:cNvPr>
          <p:cNvSpPr/>
          <p:nvPr/>
        </p:nvSpPr>
        <p:spPr>
          <a:xfrm>
            <a:off x="6643869" y="374904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9A73D2-8651-4202-44DA-BF54A4460722}"/>
              </a:ext>
            </a:extLst>
          </p:cNvPr>
          <p:cNvSpPr/>
          <p:nvPr/>
        </p:nvSpPr>
        <p:spPr>
          <a:xfrm>
            <a:off x="6963909" y="3630168"/>
            <a:ext cx="1417320" cy="438912"/>
          </a:xfrm>
          <a:prstGeom prst="rect">
            <a:avLst/>
          </a:prstGeom>
          <a:solidFill>
            <a:srgbClr val="00508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 dirty="0">
                <a:solidFill>
                  <a:srgbClr val="FFFFFF"/>
                </a:solidFill>
                <a:latin typeface="Cambria"/>
              </a:rPr>
              <a:t>Score Fusion
0.7×FB+0.3×LM</a:t>
            </a:r>
          </a:p>
        </p:txBody>
      </p:sp>
      <p:sp>
        <p:nvSpPr>
          <p:cNvPr id="30" name="Can 29">
            <a:extLst>
              <a:ext uri="{FF2B5EF4-FFF2-40B4-BE49-F238E27FC236}">
                <a16:creationId xmlns:a16="http://schemas.microsoft.com/office/drawing/2014/main" id="{47E5DAC5-ED86-73BD-9DB9-37AA6BBADFDF}"/>
              </a:ext>
            </a:extLst>
          </p:cNvPr>
          <p:cNvSpPr/>
          <p:nvPr/>
        </p:nvSpPr>
        <p:spPr>
          <a:xfrm>
            <a:off x="8381229" y="374904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E1ACB07-B887-49A7-AA75-F28A3DB4FB38}"/>
              </a:ext>
            </a:extLst>
          </p:cNvPr>
          <p:cNvSpPr/>
          <p:nvPr/>
        </p:nvSpPr>
        <p:spPr>
          <a:xfrm>
            <a:off x="8701269" y="3630168"/>
            <a:ext cx="1417320" cy="438912"/>
          </a:xfrm>
          <a:prstGeom prst="rect">
            <a:avLst/>
          </a:prstGeom>
          <a:solidFill>
            <a:srgbClr val="00508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Daily Aggregation
7,817 stock-days</a:t>
            </a:r>
          </a:p>
        </p:txBody>
      </p:sp>
      <p:sp>
        <p:nvSpPr>
          <p:cNvPr id="32" name="Cross 31">
            <a:extLst>
              <a:ext uri="{FF2B5EF4-FFF2-40B4-BE49-F238E27FC236}">
                <a16:creationId xmlns:a16="http://schemas.microsoft.com/office/drawing/2014/main" id="{611FB614-681C-A607-FAD7-22448594661A}"/>
              </a:ext>
            </a:extLst>
          </p:cNvPr>
          <p:cNvSpPr/>
          <p:nvPr/>
        </p:nvSpPr>
        <p:spPr>
          <a:xfrm>
            <a:off x="9309345" y="4114800"/>
            <a:ext cx="201168" cy="256032"/>
          </a:xfrm>
          <a:prstGeom prst="plus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C6E448-415B-89E6-6D1E-B2A8CCA06AC0}"/>
              </a:ext>
            </a:extLst>
          </p:cNvPr>
          <p:cNvSpPr/>
          <p:nvPr/>
        </p:nvSpPr>
        <p:spPr>
          <a:xfrm>
            <a:off x="3489189" y="4864608"/>
            <a:ext cx="1417320" cy="438912"/>
          </a:xfrm>
          <a:prstGeom prst="rect">
            <a:avLst/>
          </a:prstGeom>
          <a:solidFill>
            <a:srgbClr val="7B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ADF Test
Stationarity</a:t>
            </a:r>
          </a:p>
        </p:txBody>
      </p:sp>
      <p:sp>
        <p:nvSpPr>
          <p:cNvPr id="34" name="Can 33">
            <a:extLst>
              <a:ext uri="{FF2B5EF4-FFF2-40B4-BE49-F238E27FC236}">
                <a16:creationId xmlns:a16="http://schemas.microsoft.com/office/drawing/2014/main" id="{D0746718-7E1D-AC92-14DD-D509F254F8F9}"/>
              </a:ext>
            </a:extLst>
          </p:cNvPr>
          <p:cNvSpPr/>
          <p:nvPr/>
        </p:nvSpPr>
        <p:spPr>
          <a:xfrm>
            <a:off x="4906509" y="498348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CECCF4-E625-06B2-F685-34AF5FACD4CB}"/>
              </a:ext>
            </a:extLst>
          </p:cNvPr>
          <p:cNvSpPr/>
          <p:nvPr/>
        </p:nvSpPr>
        <p:spPr>
          <a:xfrm>
            <a:off x="5226549" y="4864608"/>
            <a:ext cx="1417320" cy="438912"/>
          </a:xfrm>
          <a:prstGeom prst="rect">
            <a:avLst/>
          </a:prstGeom>
          <a:solidFill>
            <a:srgbClr val="7B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Granger Test
Lags 1–5</a:t>
            </a:r>
          </a:p>
        </p:txBody>
      </p:sp>
      <p:sp>
        <p:nvSpPr>
          <p:cNvPr id="36" name="Can 35">
            <a:extLst>
              <a:ext uri="{FF2B5EF4-FFF2-40B4-BE49-F238E27FC236}">
                <a16:creationId xmlns:a16="http://schemas.microsoft.com/office/drawing/2014/main" id="{997A40AB-B409-1ACF-3AE1-8B0E1360166B}"/>
              </a:ext>
            </a:extLst>
          </p:cNvPr>
          <p:cNvSpPr/>
          <p:nvPr/>
        </p:nvSpPr>
        <p:spPr>
          <a:xfrm>
            <a:off x="6643869" y="498348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C7C4D3A-68EA-E43E-02CB-5275113437D6}"/>
              </a:ext>
            </a:extLst>
          </p:cNvPr>
          <p:cNvSpPr/>
          <p:nvPr/>
        </p:nvSpPr>
        <p:spPr>
          <a:xfrm>
            <a:off x="6963909" y="4864608"/>
            <a:ext cx="1417320" cy="438912"/>
          </a:xfrm>
          <a:prstGeom prst="rect">
            <a:avLst/>
          </a:prstGeom>
          <a:solidFill>
            <a:srgbClr val="7B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Lead-Lag Score
L(i,j)=Σk·corr</a:t>
            </a:r>
          </a:p>
        </p:txBody>
      </p:sp>
      <p:sp>
        <p:nvSpPr>
          <p:cNvPr id="38" name="Can 37">
            <a:extLst>
              <a:ext uri="{FF2B5EF4-FFF2-40B4-BE49-F238E27FC236}">
                <a16:creationId xmlns:a16="http://schemas.microsoft.com/office/drawing/2014/main" id="{087E76B8-CCBC-EC16-E6EC-9F8FBAF98DF7}"/>
              </a:ext>
            </a:extLst>
          </p:cNvPr>
          <p:cNvSpPr/>
          <p:nvPr/>
        </p:nvSpPr>
        <p:spPr>
          <a:xfrm>
            <a:off x="8381229" y="498348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9B2A6FC-6941-9424-A036-2303D3C5A19F}"/>
              </a:ext>
            </a:extLst>
          </p:cNvPr>
          <p:cNvSpPr/>
          <p:nvPr/>
        </p:nvSpPr>
        <p:spPr>
          <a:xfrm>
            <a:off x="8701269" y="4654296"/>
            <a:ext cx="1417320" cy="438912"/>
          </a:xfrm>
          <a:prstGeom prst="rect">
            <a:avLst/>
          </a:prstGeom>
          <a:solidFill>
            <a:srgbClr val="7B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10×10 Matrix
Lead-Lag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76EB6387-8D44-D249-7E1A-83BC9EEF7D13}"/>
              </a:ext>
            </a:extLst>
          </p:cNvPr>
          <p:cNvSpPr/>
          <p:nvPr/>
        </p:nvSpPr>
        <p:spPr>
          <a:xfrm>
            <a:off x="9309345" y="5349240"/>
            <a:ext cx="201168" cy="256032"/>
          </a:xfrm>
          <a:prstGeom prst="plus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8ADFB1B-33AF-A556-F597-C70DE5A04784}"/>
              </a:ext>
            </a:extLst>
          </p:cNvPr>
          <p:cNvSpPr/>
          <p:nvPr/>
        </p:nvSpPr>
        <p:spPr>
          <a:xfrm>
            <a:off x="3489189" y="6099048"/>
            <a:ext cx="1417320" cy="438912"/>
          </a:xfrm>
          <a:prstGeom prst="rect">
            <a:avLst/>
          </a:prstGeom>
          <a:solidFill>
            <a:srgbClr val="1F497D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Network Graph
10 nodes, 40 edges</a:t>
            </a:r>
          </a:p>
        </p:txBody>
      </p:sp>
      <p:sp>
        <p:nvSpPr>
          <p:cNvPr id="42" name="Can 41">
            <a:extLst>
              <a:ext uri="{FF2B5EF4-FFF2-40B4-BE49-F238E27FC236}">
                <a16:creationId xmlns:a16="http://schemas.microsoft.com/office/drawing/2014/main" id="{9E0FC980-1886-9EF6-D610-78A124E70842}"/>
              </a:ext>
            </a:extLst>
          </p:cNvPr>
          <p:cNvSpPr/>
          <p:nvPr/>
        </p:nvSpPr>
        <p:spPr>
          <a:xfrm>
            <a:off x="4906509" y="621792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099F33-DA10-9393-45D5-07142E554530}"/>
              </a:ext>
            </a:extLst>
          </p:cNvPr>
          <p:cNvSpPr/>
          <p:nvPr/>
        </p:nvSpPr>
        <p:spPr>
          <a:xfrm>
            <a:off x="5226549" y="6099048"/>
            <a:ext cx="1417320" cy="438912"/>
          </a:xfrm>
          <a:prstGeom prst="rect">
            <a:avLst/>
          </a:prstGeom>
          <a:solidFill>
            <a:srgbClr val="1F497D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Louvain
Community Detect.</a:t>
            </a:r>
          </a:p>
        </p:txBody>
      </p:sp>
      <p:sp>
        <p:nvSpPr>
          <p:cNvPr id="44" name="Can 43">
            <a:extLst>
              <a:ext uri="{FF2B5EF4-FFF2-40B4-BE49-F238E27FC236}">
                <a16:creationId xmlns:a16="http://schemas.microsoft.com/office/drawing/2014/main" id="{BD064665-EEFA-BF92-D697-6ADE6657EA7D}"/>
              </a:ext>
            </a:extLst>
          </p:cNvPr>
          <p:cNvSpPr/>
          <p:nvPr/>
        </p:nvSpPr>
        <p:spPr>
          <a:xfrm>
            <a:off x="6643869" y="621792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E9E8D22-0405-6D5E-BC80-D9E35A4DE0BF}"/>
              </a:ext>
            </a:extLst>
          </p:cNvPr>
          <p:cNvSpPr/>
          <p:nvPr/>
        </p:nvSpPr>
        <p:spPr>
          <a:xfrm>
            <a:off x="6963909" y="6099048"/>
            <a:ext cx="1417320" cy="438912"/>
          </a:xfrm>
          <a:prstGeom prst="rect">
            <a:avLst/>
          </a:prstGeom>
          <a:solidFill>
            <a:srgbClr val="1F497D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Leader/Follower
5 + 5 Clusters</a:t>
            </a:r>
          </a:p>
        </p:txBody>
      </p:sp>
      <p:sp>
        <p:nvSpPr>
          <p:cNvPr id="46" name="Can 45">
            <a:extLst>
              <a:ext uri="{FF2B5EF4-FFF2-40B4-BE49-F238E27FC236}">
                <a16:creationId xmlns:a16="http://schemas.microsoft.com/office/drawing/2014/main" id="{D731119D-CA1D-C1C8-A7EF-5B9C570DDF19}"/>
              </a:ext>
            </a:extLst>
          </p:cNvPr>
          <p:cNvSpPr/>
          <p:nvPr/>
        </p:nvSpPr>
        <p:spPr>
          <a:xfrm>
            <a:off x="8381229" y="6217920"/>
            <a:ext cx="320040" cy="201168"/>
          </a:xfrm>
          <a:prstGeom prst="can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5833C3B-8C2C-DA5F-12E7-4AF3015A83F8}"/>
              </a:ext>
            </a:extLst>
          </p:cNvPr>
          <p:cNvSpPr/>
          <p:nvPr/>
        </p:nvSpPr>
        <p:spPr>
          <a:xfrm>
            <a:off x="8701269" y="6099048"/>
            <a:ext cx="1417320" cy="438912"/>
          </a:xfrm>
          <a:prstGeom prst="rect">
            <a:avLst/>
          </a:prstGeom>
          <a:solidFill>
            <a:srgbClr val="1F497D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mbria"/>
              </a:rPr>
              <a:t>Signal Table
Lag + Score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F56222-243C-FF73-0772-BFA2C738C0A3}"/>
              </a:ext>
            </a:extLst>
          </p:cNvPr>
          <p:cNvSpPr txBox="1"/>
          <p:nvPr/>
        </p:nvSpPr>
        <p:spPr>
          <a:xfrm>
            <a:off x="1417320" y="557784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C00000"/>
                </a:solidFill>
                <a:latin typeface="Cambria"/>
              </a:rPr>
              <a:t>OUTPUT: Cluster assignments · Centrality scores · Lead-lag scores · Trading signal table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A72898-818C-C975-401A-D53D1E0C1344}"/>
              </a:ext>
            </a:extLst>
          </p:cNvPr>
          <p:cNvSpPr txBox="1"/>
          <p:nvPr/>
        </p:nvSpPr>
        <p:spPr>
          <a:xfrm>
            <a:off x="116433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00000"/>
                </a:solidFill>
                <a:latin typeface="Cambria"/>
              </a:rPr>
              <a:t>5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C1F08E1B-EEF8-130F-D0FD-074CB80BC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831" y="-371334"/>
            <a:ext cx="3126810" cy="194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8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6475</TotalTime>
  <Words>2660</Words>
  <Application>Microsoft Macintosh PowerPoint</Application>
  <PresentationFormat>Widescreen</PresentationFormat>
  <Paragraphs>337</Paragraphs>
  <Slides>18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Sunil Moon</dc:creator>
  <cp:lastModifiedBy>Dhruvansh Shah</cp:lastModifiedBy>
  <cp:revision>884</cp:revision>
  <dcterms:created xsi:type="dcterms:W3CDTF">2025-03-04T08:01:21Z</dcterms:created>
  <dcterms:modified xsi:type="dcterms:W3CDTF">2026-04-25T05:10:04Z</dcterms:modified>
</cp:coreProperties>
</file>